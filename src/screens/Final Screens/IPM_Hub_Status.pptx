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67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978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2546"/>
        </a:solidFill>
        <a:effectLst/>
      </p:bgPr>
    </p:bg>
    <p:spTree>
      <p:nvGrpSpPr>
        <p:cNvPr id="1" name=""/>
        <p:cNvGrpSpPr/>
        <p:nvPr/>
      </p:nvGrpSpPr>
      <p:grpSpPr>
        <a:xfrm>
          <a:off x="0" y="0"/>
          <a:ext cx="0" cy="0"/>
          <a:chOff x="0" y="0"/>
          <a:chExt cx="0" cy="0"/>
        </a:xfrm>
      </p:grpSpPr>
      <p:sp>
        <p:nvSpPr>
          <p:cNvPr id="2" name="Shape 0"/>
          <p:cNvSpPr/>
          <p:nvPr/>
        </p:nvSpPr>
        <p:spPr>
          <a:xfrm>
            <a:off x="8046720" y="-914400"/>
            <a:ext cx="3200400" cy="3200400"/>
          </a:xfrm>
          <a:prstGeom prst="ellipse">
            <a:avLst/>
          </a:prstGeom>
          <a:solidFill>
            <a:srgbClr val="0C4D91">
              <a:alpha val="40000"/>
            </a:srgbClr>
          </a:solidFill>
          <a:ln w="12700">
            <a:solidFill>
              <a:srgbClr val="0C4D91">
                <a:alpha val="40000"/>
              </a:srgbClr>
            </a:solidFill>
            <a:prstDash val="solid"/>
          </a:ln>
        </p:spPr>
        <p:txBody>
          <a:bodyPr/>
          <a:lstStyle/>
          <a:p>
            <a:endParaRPr lang="en-US"/>
          </a:p>
        </p:txBody>
      </p:sp>
      <p:sp>
        <p:nvSpPr>
          <p:cNvPr id="3" name="Shape 1"/>
          <p:cNvSpPr/>
          <p:nvPr/>
        </p:nvSpPr>
        <p:spPr>
          <a:xfrm>
            <a:off x="8686800" y="3200400"/>
            <a:ext cx="1828800" cy="1828800"/>
          </a:xfrm>
          <a:prstGeom prst="ellipse">
            <a:avLst/>
          </a:prstGeom>
          <a:solidFill>
            <a:srgbClr val="46B0E3">
              <a:alpha val="25000"/>
            </a:srgbClr>
          </a:solidFill>
          <a:ln w="12700">
            <a:solidFill>
              <a:srgbClr val="46B0E3">
                <a:alpha val="25000"/>
              </a:srgbClr>
            </a:solidFill>
            <a:prstDash val="solid"/>
          </a:ln>
        </p:spPr>
        <p:txBody>
          <a:bodyPr/>
          <a:lstStyle/>
          <a:p>
            <a:endParaRPr lang="en-US"/>
          </a:p>
        </p:txBody>
      </p:sp>
      <p:sp>
        <p:nvSpPr>
          <p:cNvPr id="4" name="Shape 2"/>
          <p:cNvSpPr/>
          <p:nvPr/>
        </p:nvSpPr>
        <p:spPr>
          <a:xfrm>
            <a:off x="-457200" y="3474720"/>
            <a:ext cx="2286000" cy="2286000"/>
          </a:xfrm>
          <a:prstGeom prst="ellipse">
            <a:avLst/>
          </a:prstGeom>
          <a:solidFill>
            <a:srgbClr val="0C4D91">
              <a:alpha val="35000"/>
            </a:srgbClr>
          </a:solidFill>
          <a:ln w="12700">
            <a:solidFill>
              <a:srgbClr val="0C4D91">
                <a:alpha val="35000"/>
              </a:srgbClr>
            </a:solidFill>
            <a:prstDash val="solid"/>
          </a:ln>
        </p:spPr>
        <p:txBody>
          <a:bodyPr/>
          <a:lstStyle/>
          <a:p>
            <a:endParaRPr lang="en-US"/>
          </a:p>
        </p:txBody>
      </p:sp>
      <p:sp>
        <p:nvSpPr>
          <p:cNvPr id="5" name="Text 3"/>
          <p:cNvSpPr/>
          <p:nvPr/>
        </p:nvSpPr>
        <p:spPr>
          <a:xfrm>
            <a:off x="640080" y="1188720"/>
            <a:ext cx="7315200" cy="320040"/>
          </a:xfrm>
          <a:prstGeom prst="rect">
            <a:avLst/>
          </a:prstGeom>
          <a:noFill/>
          <a:ln/>
        </p:spPr>
        <p:txBody>
          <a:bodyPr wrap="square" rtlCol="0" anchor="ctr"/>
          <a:lstStyle/>
          <a:p>
            <a:pPr marL="0" indent="0">
              <a:buNone/>
            </a:pPr>
            <a:r>
              <a:rPr lang="en-US" sz="900" b="1" kern="0" spc="400" dirty="0">
                <a:solidFill>
                  <a:srgbClr val="46B0E3"/>
                </a:solidFill>
                <a:latin typeface="Arial" pitchFamily="34" charset="0"/>
                <a:ea typeface="Arial" pitchFamily="34" charset="-122"/>
                <a:cs typeface="Arial" pitchFamily="34" charset="-120"/>
              </a:rPr>
              <a:t>INSTITUTE OF PROJECT MANAGEMENT</a:t>
            </a:r>
            <a:endParaRPr lang="en-US" sz="900" dirty="0"/>
          </a:p>
        </p:txBody>
      </p:sp>
      <p:sp>
        <p:nvSpPr>
          <p:cNvPr id="6" name="Text 4"/>
          <p:cNvSpPr/>
          <p:nvPr/>
        </p:nvSpPr>
        <p:spPr>
          <a:xfrm>
            <a:off x="640080" y="1600200"/>
            <a:ext cx="77724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IPM Hub Mobile App</a:t>
            </a:r>
            <a:endParaRPr lang="en-US" sz="4400" dirty="0"/>
          </a:p>
        </p:txBody>
      </p:sp>
      <p:sp>
        <p:nvSpPr>
          <p:cNvPr id="7" name="Text 5"/>
          <p:cNvSpPr/>
          <p:nvPr/>
        </p:nvSpPr>
        <p:spPr>
          <a:xfrm>
            <a:off x="640080" y="2606040"/>
            <a:ext cx="7315200" cy="502920"/>
          </a:xfrm>
          <a:prstGeom prst="rect">
            <a:avLst/>
          </a:prstGeom>
          <a:noFill/>
          <a:ln/>
        </p:spPr>
        <p:txBody>
          <a:bodyPr wrap="square" rtlCol="0" anchor="ctr"/>
          <a:lstStyle/>
          <a:p>
            <a:pPr marL="0" indent="0">
              <a:buNone/>
            </a:pPr>
            <a:r>
              <a:rPr lang="en-US" sz="2000" i="1" dirty="0">
                <a:solidFill>
                  <a:srgbClr val="46B0E3"/>
                </a:solidFill>
                <a:latin typeface="Calibri" pitchFamily="34" charset="0"/>
                <a:ea typeface="Calibri" pitchFamily="34" charset="-122"/>
                <a:cs typeface="Calibri" pitchFamily="34" charset="-120"/>
              </a:rPr>
              <a:t>Project Status &amp; Progress Overview</a:t>
            </a:r>
            <a:endParaRPr lang="en-US" sz="2000" dirty="0"/>
          </a:p>
        </p:txBody>
      </p:sp>
      <p:sp>
        <p:nvSpPr>
          <p:cNvPr id="8" name="Shape 6"/>
          <p:cNvSpPr/>
          <p:nvPr/>
        </p:nvSpPr>
        <p:spPr>
          <a:xfrm>
            <a:off x="640080" y="3246120"/>
            <a:ext cx="1828800" cy="45720"/>
          </a:xfrm>
          <a:prstGeom prst="rect">
            <a:avLst/>
          </a:prstGeom>
          <a:solidFill>
            <a:srgbClr val="46B0E3"/>
          </a:solidFill>
          <a:ln w="12700">
            <a:solidFill>
              <a:srgbClr val="46B0E3"/>
            </a:solidFill>
            <a:prstDash val="solid"/>
          </a:ln>
        </p:spPr>
        <p:txBody>
          <a:bodyPr/>
          <a:lstStyle/>
          <a:p>
            <a:endParaRPr lang="en-US"/>
          </a:p>
        </p:txBody>
      </p:sp>
      <p:sp>
        <p:nvSpPr>
          <p:cNvPr id="9" name="Text 7"/>
          <p:cNvSpPr/>
          <p:nvPr/>
        </p:nvSpPr>
        <p:spPr>
          <a:xfrm>
            <a:off x="640080" y="3429000"/>
            <a:ext cx="3657600" cy="320040"/>
          </a:xfrm>
          <a:prstGeom prst="rect">
            <a:avLst/>
          </a:prstGeom>
          <a:noFill/>
          <a:ln/>
        </p:spPr>
        <p:txBody>
          <a:bodyPr wrap="square" rtlCol="0" anchor="ctr"/>
          <a:lstStyle/>
          <a:p>
            <a:pPr marL="0" indent="0">
              <a:buNone/>
            </a:pPr>
            <a:r>
              <a:rPr lang="en-US" sz="1200" dirty="0">
                <a:solidFill>
                  <a:srgbClr val="8898AA"/>
                </a:solidFill>
                <a:latin typeface="Calibri" pitchFamily="34" charset="0"/>
                <a:ea typeface="Calibri" pitchFamily="34" charset="-122"/>
                <a:cs typeface="Calibri" pitchFamily="34" charset="-120"/>
              </a:rPr>
              <a:t>June 2026</a:t>
            </a:r>
            <a:endParaRPr lang="en-US" sz="1200" dirty="0"/>
          </a:p>
        </p:txBody>
      </p:sp>
      <p:sp>
        <p:nvSpPr>
          <p:cNvPr id="10" name="Shape 8"/>
          <p:cNvSpPr/>
          <p:nvPr/>
        </p:nvSpPr>
        <p:spPr>
          <a:xfrm>
            <a:off x="640080" y="3931920"/>
            <a:ext cx="2560320" cy="868680"/>
          </a:xfrm>
          <a:prstGeom prst="roundRect">
            <a:avLst>
              <a:gd name="adj" fmla="val 8421"/>
            </a:avLst>
          </a:prstGeom>
          <a:solidFill>
            <a:srgbClr val="0C4D91">
              <a:alpha val="80000"/>
            </a:srgbClr>
          </a:solidFill>
          <a:ln w="12700">
            <a:solidFill>
              <a:srgbClr val="46B0E3">
                <a:alpha val="40000"/>
              </a:srgbClr>
            </a:solidFill>
            <a:prstDash val="solid"/>
          </a:ln>
        </p:spPr>
        <p:txBody>
          <a:bodyPr/>
          <a:lstStyle/>
          <a:p>
            <a:endParaRPr lang="en-US"/>
          </a:p>
        </p:txBody>
      </p:sp>
      <p:sp>
        <p:nvSpPr>
          <p:cNvPr id="11" name="Text 9"/>
          <p:cNvSpPr/>
          <p:nvPr/>
        </p:nvSpPr>
        <p:spPr>
          <a:xfrm>
            <a:off x="731520" y="3959352"/>
            <a:ext cx="23774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12+</a:t>
            </a:r>
            <a:endParaRPr lang="en-US" sz="1800" dirty="0"/>
          </a:p>
        </p:txBody>
      </p:sp>
      <p:sp>
        <p:nvSpPr>
          <p:cNvPr id="12" name="Text 10"/>
          <p:cNvSpPr/>
          <p:nvPr/>
        </p:nvSpPr>
        <p:spPr>
          <a:xfrm>
            <a:off x="731520" y="4343400"/>
            <a:ext cx="2377440" cy="365760"/>
          </a:xfrm>
          <a:prstGeom prst="rect">
            <a:avLst/>
          </a:prstGeom>
          <a:noFill/>
          <a:ln/>
        </p:spPr>
        <p:txBody>
          <a:bodyPr wrap="square" rtlCol="0" anchor="ctr"/>
          <a:lstStyle/>
          <a:p>
            <a:pPr marL="0" indent="0" algn="ctr">
              <a:buNone/>
            </a:pPr>
            <a:r>
              <a:rPr lang="en-US" sz="1000" dirty="0">
                <a:solidFill>
                  <a:srgbClr val="46B0E3"/>
                </a:solidFill>
                <a:latin typeface="Calibri" pitchFamily="34" charset="0"/>
                <a:ea typeface="Calibri" pitchFamily="34" charset="-122"/>
                <a:cs typeface="Calibri" pitchFamily="34" charset="-120"/>
              </a:rPr>
              <a:t>Screens Built</a:t>
            </a:r>
            <a:endParaRPr lang="en-US" sz="1000" dirty="0"/>
          </a:p>
        </p:txBody>
      </p:sp>
      <p:sp>
        <p:nvSpPr>
          <p:cNvPr id="13" name="Shape 11"/>
          <p:cNvSpPr/>
          <p:nvPr/>
        </p:nvSpPr>
        <p:spPr>
          <a:xfrm>
            <a:off x="3474720" y="3931920"/>
            <a:ext cx="2560320" cy="868680"/>
          </a:xfrm>
          <a:prstGeom prst="roundRect">
            <a:avLst>
              <a:gd name="adj" fmla="val 8421"/>
            </a:avLst>
          </a:prstGeom>
          <a:solidFill>
            <a:srgbClr val="0C4D91">
              <a:alpha val="80000"/>
            </a:srgbClr>
          </a:solidFill>
          <a:ln w="12700">
            <a:solidFill>
              <a:srgbClr val="46B0E3">
                <a:alpha val="40000"/>
              </a:srgbClr>
            </a:solidFill>
            <a:prstDash val="solid"/>
          </a:ln>
        </p:spPr>
        <p:txBody>
          <a:bodyPr/>
          <a:lstStyle/>
          <a:p>
            <a:endParaRPr lang="en-US"/>
          </a:p>
        </p:txBody>
      </p:sp>
      <p:sp>
        <p:nvSpPr>
          <p:cNvPr id="14" name="Text 12"/>
          <p:cNvSpPr/>
          <p:nvPr/>
        </p:nvSpPr>
        <p:spPr>
          <a:xfrm>
            <a:off x="3566160" y="3959352"/>
            <a:ext cx="23774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5" name="Text 13"/>
          <p:cNvSpPr/>
          <p:nvPr/>
        </p:nvSpPr>
        <p:spPr>
          <a:xfrm>
            <a:off x="3566160" y="4343400"/>
            <a:ext cx="2377440" cy="365760"/>
          </a:xfrm>
          <a:prstGeom prst="rect">
            <a:avLst/>
          </a:prstGeom>
          <a:noFill/>
          <a:ln/>
        </p:spPr>
        <p:txBody>
          <a:bodyPr wrap="square" rtlCol="0" anchor="ctr"/>
          <a:lstStyle/>
          <a:p>
            <a:pPr marL="0" indent="0" algn="ctr">
              <a:buNone/>
            </a:pPr>
            <a:r>
              <a:rPr lang="en-US" sz="1000" dirty="0">
                <a:solidFill>
                  <a:srgbClr val="46B0E3"/>
                </a:solidFill>
                <a:latin typeface="Calibri" pitchFamily="34" charset="0"/>
                <a:ea typeface="Calibri" pitchFamily="34" charset="-122"/>
                <a:cs typeface="Calibri" pitchFamily="34" charset="-120"/>
              </a:rPr>
              <a:t>Major Modules</a:t>
            </a:r>
            <a:endParaRPr lang="en-US" sz="1000" dirty="0"/>
          </a:p>
        </p:txBody>
      </p:sp>
      <p:sp>
        <p:nvSpPr>
          <p:cNvPr id="16" name="Shape 14"/>
          <p:cNvSpPr/>
          <p:nvPr/>
        </p:nvSpPr>
        <p:spPr>
          <a:xfrm>
            <a:off x="6309360" y="3931920"/>
            <a:ext cx="2560320" cy="868680"/>
          </a:xfrm>
          <a:prstGeom prst="roundRect">
            <a:avLst>
              <a:gd name="adj" fmla="val 8421"/>
            </a:avLst>
          </a:prstGeom>
          <a:solidFill>
            <a:srgbClr val="0C4D91">
              <a:alpha val="80000"/>
            </a:srgbClr>
          </a:solidFill>
          <a:ln w="12700">
            <a:solidFill>
              <a:srgbClr val="46B0E3">
                <a:alpha val="40000"/>
              </a:srgbClr>
            </a:solidFill>
            <a:prstDash val="solid"/>
          </a:ln>
        </p:spPr>
        <p:txBody>
          <a:bodyPr/>
          <a:lstStyle/>
          <a:p>
            <a:endParaRPr lang="en-US"/>
          </a:p>
        </p:txBody>
      </p:sp>
      <p:sp>
        <p:nvSpPr>
          <p:cNvPr id="17" name="Text 15"/>
          <p:cNvSpPr/>
          <p:nvPr/>
        </p:nvSpPr>
        <p:spPr>
          <a:xfrm>
            <a:off x="6400800" y="3959352"/>
            <a:ext cx="2377440" cy="38404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React Native</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0.74.5</a:t>
            </a:r>
            <a:endParaRPr lang="en-US" sz="1800" dirty="0"/>
          </a:p>
        </p:txBody>
      </p:sp>
      <p:sp>
        <p:nvSpPr>
          <p:cNvPr id="18" name="Text 16"/>
          <p:cNvSpPr/>
          <p:nvPr/>
        </p:nvSpPr>
        <p:spPr>
          <a:xfrm>
            <a:off x="6400800" y="4343400"/>
            <a:ext cx="2377440" cy="365760"/>
          </a:xfrm>
          <a:prstGeom prst="rect">
            <a:avLst/>
          </a:prstGeom>
          <a:noFill/>
          <a:ln/>
        </p:spPr>
        <p:txBody>
          <a:bodyPr wrap="square" rtlCol="0" anchor="ctr"/>
          <a:lstStyle/>
          <a:p>
            <a:pPr marL="0" indent="0" algn="ctr">
              <a:buNone/>
            </a:pPr>
            <a:r>
              <a:rPr lang="en-US" sz="1000" dirty="0">
                <a:solidFill>
                  <a:srgbClr val="46B0E3"/>
                </a:solidFill>
                <a:latin typeface="Calibri" pitchFamily="34" charset="0"/>
                <a:ea typeface="Calibri" pitchFamily="34" charset="-122"/>
                <a:cs typeface="Calibri" pitchFamily="34" charset="-120"/>
              </a:rPr>
              <a:t>Tech Stack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92546"/>
          </a:solidFill>
          <a:ln w="12700">
            <a:solidFill>
              <a:srgbClr val="192546"/>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4" name="Text 2"/>
          <p:cNvSpPr/>
          <p:nvPr/>
        </p:nvSpPr>
        <p:spPr>
          <a:xfrm>
            <a:off x="365760" y="1051560"/>
            <a:ext cx="4114800" cy="411480"/>
          </a:xfrm>
          <a:prstGeom prst="rect">
            <a:avLst/>
          </a:prstGeom>
          <a:noFill/>
          <a:ln/>
        </p:spPr>
        <p:txBody>
          <a:bodyPr wrap="square" rtlCol="0" anchor="ctr"/>
          <a:lstStyle/>
          <a:p>
            <a:pPr marL="0" indent="0">
              <a:buNone/>
            </a:pPr>
            <a:r>
              <a:rPr lang="en-US" sz="1600" b="1" dirty="0">
                <a:solidFill>
                  <a:srgbClr val="192546"/>
                </a:solidFill>
                <a:latin typeface="Cambria" pitchFamily="34" charset="0"/>
                <a:ea typeface="Cambria" pitchFamily="34" charset="-122"/>
                <a:cs typeface="Cambria" pitchFamily="34" charset="-120"/>
              </a:rPr>
              <a:t>What We're Building</a:t>
            </a:r>
            <a:endParaRPr lang="en-US" sz="1600" dirty="0"/>
          </a:p>
        </p:txBody>
      </p:sp>
      <p:sp>
        <p:nvSpPr>
          <p:cNvPr id="5" name="Text 3"/>
          <p:cNvSpPr/>
          <p:nvPr/>
        </p:nvSpPr>
        <p:spPr>
          <a:xfrm>
            <a:off x="365760" y="1508760"/>
            <a:ext cx="4297680" cy="2926080"/>
          </a:xfrm>
          <a:prstGeom prst="rect">
            <a:avLst/>
          </a:prstGeom>
          <a:noFill/>
          <a:ln/>
        </p:spPr>
        <p:txBody>
          <a:bodyPr wrap="square" rtlCol="0" anchor="ctr"/>
          <a:lstStyle/>
          <a:p>
            <a:pPr marL="0" indent="0">
              <a:spcAft>
                <a:spcPts val="600"/>
              </a:spcAft>
              <a:buNone/>
            </a:pPr>
            <a:r>
              <a:rPr lang="en-US" sz="1200" dirty="0">
                <a:solidFill>
                  <a:srgbClr val="333333"/>
                </a:solidFill>
                <a:latin typeface="Calibri" pitchFamily="34" charset="0"/>
                <a:ea typeface="Calibri" pitchFamily="34" charset="-122"/>
                <a:cs typeface="Calibri" pitchFamily="34" charset="-120"/>
              </a:rPr>
              <a:t>A native mobile app (iOS &amp; Android) for the Institute of Project Management community.</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Built with React Native 0.74.5 + TypeScript, connecting to a WordPress / BuddyBoss / LearnDash / WooCommerce backend at hub.instituteprojectmanagement.com.</a:t>
            </a:r>
            <a:endParaRPr lang="en-US" sz="1200" dirty="0"/>
          </a:p>
          <a:p>
            <a:pPr marL="342900" indent="-342900">
              <a:spcAft>
                <a:spcPts val="600"/>
              </a:spcAft>
              <a:buSzPct val="100000"/>
              <a:buChar char="•"/>
            </a:pPr>
            <a:r>
              <a:rPr lang="en-US" sz="1200" dirty="0">
                <a:solidFill>
                  <a:srgbClr val="333333"/>
                </a:solidFill>
                <a:latin typeface="Calibri" pitchFamily="34" charset="0"/>
                <a:ea typeface="Calibri" pitchFamily="34" charset="-122"/>
                <a:cs typeface="Calibri" pitchFamily="34" charset="-120"/>
              </a:rPr>
              <a:t>The app unifies social features, professional learning, events, mentorship, and a gamified badge system in a single branded experience.</a:t>
            </a:r>
            <a:endParaRPr lang="en-US" sz="1200" dirty="0"/>
          </a:p>
        </p:txBody>
      </p:sp>
      <p:sp>
        <p:nvSpPr>
          <p:cNvPr id="6" name="Shape 4"/>
          <p:cNvSpPr/>
          <p:nvPr/>
        </p:nvSpPr>
        <p:spPr>
          <a:xfrm>
            <a:off x="5029200" y="1051560"/>
            <a:ext cx="3749040" cy="685800"/>
          </a:xfrm>
          <a:prstGeom prst="roundRect">
            <a:avLst>
              <a:gd name="adj" fmla="val 10667"/>
            </a:avLst>
          </a:prstGeom>
          <a:solidFill>
            <a:srgbClr val="F4F6FA"/>
          </a:solidFill>
          <a:ln w="12700">
            <a:solidFill>
              <a:srgbClr val="DDE3EF"/>
            </a:solidFill>
            <a:prstDash val="solid"/>
          </a:ln>
        </p:spPr>
        <p:txBody>
          <a:bodyPr/>
          <a:lstStyle/>
          <a:p>
            <a:endParaRPr lang="en-US"/>
          </a:p>
        </p:txBody>
      </p:sp>
      <p:sp>
        <p:nvSpPr>
          <p:cNvPr id="7" name="Text 5"/>
          <p:cNvSpPr/>
          <p:nvPr/>
        </p:nvSpPr>
        <p:spPr>
          <a:xfrm>
            <a:off x="5166360" y="1097280"/>
            <a:ext cx="1280160" cy="292608"/>
          </a:xfrm>
          <a:prstGeom prst="rect">
            <a:avLst/>
          </a:prstGeom>
          <a:noFill/>
          <a:ln/>
        </p:spPr>
        <p:txBody>
          <a:bodyPr wrap="square" rtlCol="0" anchor="ctr"/>
          <a:lstStyle/>
          <a:p>
            <a:pPr marL="0" indent="0">
              <a:buNone/>
            </a:pPr>
            <a:r>
              <a:rPr lang="en-US" sz="900" b="1" dirty="0">
                <a:solidFill>
                  <a:srgbClr val="0C4D91"/>
                </a:solidFill>
                <a:latin typeface="Calibri" pitchFamily="34" charset="0"/>
                <a:ea typeface="Calibri" pitchFamily="34" charset="-122"/>
                <a:cs typeface="Calibri" pitchFamily="34" charset="-120"/>
              </a:rPr>
              <a:t>Frontend</a:t>
            </a:r>
            <a:endParaRPr lang="en-US" sz="900" dirty="0"/>
          </a:p>
        </p:txBody>
      </p:sp>
      <p:sp>
        <p:nvSpPr>
          <p:cNvPr id="8" name="Text 6"/>
          <p:cNvSpPr/>
          <p:nvPr/>
        </p:nvSpPr>
        <p:spPr>
          <a:xfrm>
            <a:off x="5166360" y="1353312"/>
            <a:ext cx="3474720" cy="32004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React Native 0.74.5, TypeScript</a:t>
            </a:r>
            <a:endParaRPr lang="en-US" sz="1000" dirty="0"/>
          </a:p>
        </p:txBody>
      </p:sp>
      <p:sp>
        <p:nvSpPr>
          <p:cNvPr id="9" name="Shape 7"/>
          <p:cNvSpPr/>
          <p:nvPr/>
        </p:nvSpPr>
        <p:spPr>
          <a:xfrm>
            <a:off x="5029200" y="1847088"/>
            <a:ext cx="3749040" cy="685800"/>
          </a:xfrm>
          <a:prstGeom prst="roundRect">
            <a:avLst>
              <a:gd name="adj" fmla="val 10667"/>
            </a:avLst>
          </a:prstGeom>
          <a:solidFill>
            <a:srgbClr val="F4F6FA"/>
          </a:solidFill>
          <a:ln w="12700">
            <a:solidFill>
              <a:srgbClr val="DDE3EF"/>
            </a:solidFill>
            <a:prstDash val="solid"/>
          </a:ln>
        </p:spPr>
        <p:txBody>
          <a:bodyPr/>
          <a:lstStyle/>
          <a:p>
            <a:endParaRPr lang="en-US"/>
          </a:p>
        </p:txBody>
      </p:sp>
      <p:sp>
        <p:nvSpPr>
          <p:cNvPr id="10" name="Text 8"/>
          <p:cNvSpPr/>
          <p:nvPr/>
        </p:nvSpPr>
        <p:spPr>
          <a:xfrm>
            <a:off x="5166360" y="1892808"/>
            <a:ext cx="1280160" cy="292608"/>
          </a:xfrm>
          <a:prstGeom prst="rect">
            <a:avLst/>
          </a:prstGeom>
          <a:noFill/>
          <a:ln/>
        </p:spPr>
        <p:txBody>
          <a:bodyPr wrap="square" rtlCol="0" anchor="ctr"/>
          <a:lstStyle/>
          <a:p>
            <a:pPr marL="0" indent="0">
              <a:buNone/>
            </a:pPr>
            <a:r>
              <a:rPr lang="en-US" sz="900" b="1" dirty="0">
                <a:solidFill>
                  <a:srgbClr val="0C4D91"/>
                </a:solidFill>
                <a:latin typeface="Calibri" pitchFamily="34" charset="0"/>
                <a:ea typeface="Calibri" pitchFamily="34" charset="-122"/>
                <a:cs typeface="Calibri" pitchFamily="34" charset="-120"/>
              </a:rPr>
              <a:t>Backend</a:t>
            </a:r>
            <a:endParaRPr lang="en-US" sz="900" dirty="0"/>
          </a:p>
        </p:txBody>
      </p:sp>
      <p:sp>
        <p:nvSpPr>
          <p:cNvPr id="11" name="Text 9"/>
          <p:cNvSpPr/>
          <p:nvPr/>
        </p:nvSpPr>
        <p:spPr>
          <a:xfrm>
            <a:off x="5166360" y="2148840"/>
            <a:ext cx="3474720" cy="32004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WordPress + BuddyBoss + LearnDash + WooCommerce</a:t>
            </a:r>
            <a:endParaRPr lang="en-US" sz="1000" dirty="0"/>
          </a:p>
        </p:txBody>
      </p:sp>
      <p:sp>
        <p:nvSpPr>
          <p:cNvPr id="12" name="Shape 10"/>
          <p:cNvSpPr/>
          <p:nvPr/>
        </p:nvSpPr>
        <p:spPr>
          <a:xfrm>
            <a:off x="5029200" y="2642616"/>
            <a:ext cx="3749040" cy="685800"/>
          </a:xfrm>
          <a:prstGeom prst="roundRect">
            <a:avLst>
              <a:gd name="adj" fmla="val 10667"/>
            </a:avLst>
          </a:prstGeom>
          <a:solidFill>
            <a:srgbClr val="F4F6FA"/>
          </a:solidFill>
          <a:ln w="12700">
            <a:solidFill>
              <a:srgbClr val="DDE3EF"/>
            </a:solidFill>
            <a:prstDash val="solid"/>
          </a:ln>
        </p:spPr>
        <p:txBody>
          <a:bodyPr/>
          <a:lstStyle/>
          <a:p>
            <a:endParaRPr lang="en-US"/>
          </a:p>
        </p:txBody>
      </p:sp>
      <p:sp>
        <p:nvSpPr>
          <p:cNvPr id="13" name="Text 11"/>
          <p:cNvSpPr/>
          <p:nvPr/>
        </p:nvSpPr>
        <p:spPr>
          <a:xfrm>
            <a:off x="5166360" y="2688336"/>
            <a:ext cx="1280160" cy="292608"/>
          </a:xfrm>
          <a:prstGeom prst="rect">
            <a:avLst/>
          </a:prstGeom>
          <a:noFill/>
          <a:ln/>
        </p:spPr>
        <p:txBody>
          <a:bodyPr wrap="square" rtlCol="0" anchor="ctr"/>
          <a:lstStyle/>
          <a:p>
            <a:pPr marL="0" indent="0">
              <a:buNone/>
            </a:pPr>
            <a:r>
              <a:rPr lang="en-US" sz="900" b="1" dirty="0">
                <a:solidFill>
                  <a:srgbClr val="0C4D91"/>
                </a:solidFill>
                <a:latin typeface="Calibri" pitchFamily="34" charset="0"/>
                <a:ea typeface="Calibri" pitchFamily="34" charset="-122"/>
                <a:cs typeface="Calibri" pitchFamily="34" charset="-120"/>
              </a:rPr>
              <a:t>Auth</a:t>
            </a:r>
            <a:endParaRPr lang="en-US" sz="900" dirty="0"/>
          </a:p>
        </p:txBody>
      </p:sp>
      <p:sp>
        <p:nvSpPr>
          <p:cNvPr id="14" name="Text 12"/>
          <p:cNvSpPr/>
          <p:nvPr/>
        </p:nvSpPr>
        <p:spPr>
          <a:xfrm>
            <a:off x="5166360" y="2944368"/>
            <a:ext cx="3474720" cy="32004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JWT (Keychain), Google Sign-In, LinkedIn OAuth</a:t>
            </a:r>
            <a:endParaRPr lang="en-US" sz="1000" dirty="0"/>
          </a:p>
        </p:txBody>
      </p:sp>
      <p:sp>
        <p:nvSpPr>
          <p:cNvPr id="15" name="Shape 13"/>
          <p:cNvSpPr/>
          <p:nvPr/>
        </p:nvSpPr>
        <p:spPr>
          <a:xfrm>
            <a:off x="5029200" y="3438144"/>
            <a:ext cx="3749040" cy="685800"/>
          </a:xfrm>
          <a:prstGeom prst="roundRect">
            <a:avLst>
              <a:gd name="adj" fmla="val 10667"/>
            </a:avLst>
          </a:prstGeom>
          <a:solidFill>
            <a:srgbClr val="F4F6FA"/>
          </a:solidFill>
          <a:ln w="12700">
            <a:solidFill>
              <a:srgbClr val="DDE3EF"/>
            </a:solidFill>
            <a:prstDash val="solid"/>
          </a:ln>
        </p:spPr>
        <p:txBody>
          <a:bodyPr/>
          <a:lstStyle/>
          <a:p>
            <a:endParaRPr lang="en-US"/>
          </a:p>
        </p:txBody>
      </p:sp>
      <p:sp>
        <p:nvSpPr>
          <p:cNvPr id="16" name="Text 14"/>
          <p:cNvSpPr/>
          <p:nvPr/>
        </p:nvSpPr>
        <p:spPr>
          <a:xfrm>
            <a:off x="5166360" y="3483864"/>
            <a:ext cx="1280160" cy="292608"/>
          </a:xfrm>
          <a:prstGeom prst="rect">
            <a:avLst/>
          </a:prstGeom>
          <a:noFill/>
          <a:ln/>
        </p:spPr>
        <p:txBody>
          <a:bodyPr wrap="square" rtlCol="0" anchor="ctr"/>
          <a:lstStyle/>
          <a:p>
            <a:pPr marL="0" indent="0">
              <a:buNone/>
            </a:pPr>
            <a:r>
              <a:rPr lang="en-US" sz="900" b="1" dirty="0">
                <a:solidFill>
                  <a:srgbClr val="0C4D91"/>
                </a:solidFill>
                <a:latin typeface="Calibri" pitchFamily="34" charset="0"/>
                <a:ea typeface="Calibri" pitchFamily="34" charset="-122"/>
                <a:cs typeface="Calibri" pitchFamily="34" charset="-120"/>
              </a:rPr>
              <a:t>Design</a:t>
            </a:r>
            <a:endParaRPr lang="en-US" sz="900" dirty="0"/>
          </a:p>
        </p:txBody>
      </p:sp>
      <p:sp>
        <p:nvSpPr>
          <p:cNvPr id="17" name="Text 15"/>
          <p:cNvSpPr/>
          <p:nvPr/>
        </p:nvSpPr>
        <p:spPr>
          <a:xfrm>
            <a:off x="5166360" y="3739896"/>
            <a:ext cx="3474720" cy="32004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Figma (pixel-perfect), Runda font, IPM palette</a:t>
            </a:r>
            <a:endParaRPr lang="en-US" sz="1000" dirty="0"/>
          </a:p>
        </p:txBody>
      </p:sp>
      <p:sp>
        <p:nvSpPr>
          <p:cNvPr id="18" name="Shape 16"/>
          <p:cNvSpPr/>
          <p:nvPr/>
        </p:nvSpPr>
        <p:spPr>
          <a:xfrm>
            <a:off x="5029200" y="4233672"/>
            <a:ext cx="3749040" cy="685800"/>
          </a:xfrm>
          <a:prstGeom prst="roundRect">
            <a:avLst>
              <a:gd name="adj" fmla="val 10667"/>
            </a:avLst>
          </a:prstGeom>
          <a:solidFill>
            <a:srgbClr val="F4F6FA"/>
          </a:solidFill>
          <a:ln w="12700">
            <a:solidFill>
              <a:srgbClr val="DDE3EF"/>
            </a:solidFill>
            <a:prstDash val="solid"/>
          </a:ln>
        </p:spPr>
        <p:txBody>
          <a:bodyPr/>
          <a:lstStyle/>
          <a:p>
            <a:endParaRPr lang="en-US"/>
          </a:p>
        </p:txBody>
      </p:sp>
      <p:sp>
        <p:nvSpPr>
          <p:cNvPr id="19" name="Text 17"/>
          <p:cNvSpPr/>
          <p:nvPr/>
        </p:nvSpPr>
        <p:spPr>
          <a:xfrm>
            <a:off x="5166360" y="4279392"/>
            <a:ext cx="1280160" cy="292608"/>
          </a:xfrm>
          <a:prstGeom prst="rect">
            <a:avLst/>
          </a:prstGeom>
          <a:noFill/>
          <a:ln/>
        </p:spPr>
        <p:txBody>
          <a:bodyPr wrap="square" rtlCol="0" anchor="ctr"/>
          <a:lstStyle/>
          <a:p>
            <a:pPr marL="0" indent="0">
              <a:buNone/>
            </a:pPr>
            <a:r>
              <a:rPr lang="en-US" sz="900" b="1" dirty="0">
                <a:solidFill>
                  <a:srgbClr val="0C4D91"/>
                </a:solidFill>
                <a:latin typeface="Calibri" pitchFamily="34" charset="0"/>
                <a:ea typeface="Calibri" pitchFamily="34" charset="-122"/>
                <a:cs typeface="Calibri" pitchFamily="34" charset="-120"/>
              </a:rPr>
              <a:t>Dev Env</a:t>
            </a:r>
            <a:endParaRPr lang="en-US" sz="900" dirty="0"/>
          </a:p>
        </p:txBody>
      </p:sp>
      <p:sp>
        <p:nvSpPr>
          <p:cNvPr id="20" name="Text 18"/>
          <p:cNvSpPr/>
          <p:nvPr/>
        </p:nvSpPr>
        <p:spPr>
          <a:xfrm>
            <a:off x="5166360" y="4535424"/>
            <a:ext cx="3474720" cy="32004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Android Studio, Windows/PowerShell, D:\IPMMobileApp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92546"/>
          </a:solidFill>
          <a:ln w="12700">
            <a:solidFill>
              <a:srgbClr val="192546"/>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COMPLETED SCREENS &amp; FEATURES</a:t>
            </a:r>
            <a:endParaRPr lang="en-US" sz="2200" dirty="0"/>
          </a:p>
        </p:txBody>
      </p:sp>
      <p:sp>
        <p:nvSpPr>
          <p:cNvPr id="4" name="Shape 2"/>
          <p:cNvSpPr/>
          <p:nvPr/>
        </p:nvSpPr>
        <p:spPr>
          <a:xfrm>
            <a:off x="274320" y="100584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5" name="Shape 3"/>
          <p:cNvSpPr/>
          <p:nvPr/>
        </p:nvSpPr>
        <p:spPr>
          <a:xfrm>
            <a:off x="274320" y="1005840"/>
            <a:ext cx="2743200" cy="384048"/>
          </a:xfrm>
          <a:prstGeom prst="roundRect">
            <a:avLst>
              <a:gd name="adj" fmla="val 23810"/>
            </a:avLst>
          </a:prstGeom>
          <a:solidFill>
            <a:srgbClr val="1A6B9A"/>
          </a:solidFill>
          <a:ln w="12700">
            <a:solidFill>
              <a:srgbClr val="1A6B9A"/>
            </a:solidFill>
            <a:prstDash val="solid"/>
          </a:ln>
        </p:spPr>
        <p:txBody>
          <a:bodyPr/>
          <a:lstStyle/>
          <a:p>
            <a:endParaRPr lang="en-US"/>
          </a:p>
        </p:txBody>
      </p:sp>
      <p:sp>
        <p:nvSpPr>
          <p:cNvPr id="6" name="Shape 4"/>
          <p:cNvSpPr/>
          <p:nvPr/>
        </p:nvSpPr>
        <p:spPr>
          <a:xfrm>
            <a:off x="274320" y="1207008"/>
            <a:ext cx="2743200" cy="182880"/>
          </a:xfrm>
          <a:prstGeom prst="rect">
            <a:avLst/>
          </a:prstGeom>
          <a:solidFill>
            <a:srgbClr val="1A6B9A"/>
          </a:solidFill>
          <a:ln w="12700">
            <a:solidFill>
              <a:srgbClr val="1A6B9A"/>
            </a:solidFill>
            <a:prstDash val="solid"/>
          </a:ln>
        </p:spPr>
        <p:txBody>
          <a:bodyPr/>
          <a:lstStyle/>
          <a:p>
            <a:endParaRPr lang="en-US"/>
          </a:p>
        </p:txBody>
      </p:sp>
      <p:sp>
        <p:nvSpPr>
          <p:cNvPr id="7" name="Text 5"/>
          <p:cNvSpPr/>
          <p:nvPr/>
        </p:nvSpPr>
        <p:spPr>
          <a:xfrm>
            <a:off x="365760" y="105156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Onboarding &amp; Auth</a:t>
            </a:r>
            <a:endParaRPr lang="en-US" sz="1000" dirty="0"/>
          </a:p>
        </p:txBody>
      </p:sp>
      <p:sp>
        <p:nvSpPr>
          <p:cNvPr id="8" name="Text 6"/>
          <p:cNvSpPr/>
          <p:nvPr/>
        </p:nvSpPr>
        <p:spPr>
          <a:xfrm>
            <a:off x="384048" y="144475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Splash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Sign Up</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Sign In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Email Verification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Welcome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Profile Setup</a:t>
            </a:r>
            <a:endParaRPr lang="en-US" sz="900" dirty="0"/>
          </a:p>
        </p:txBody>
      </p:sp>
      <p:sp>
        <p:nvSpPr>
          <p:cNvPr id="9" name="Shape 7"/>
          <p:cNvSpPr/>
          <p:nvPr/>
        </p:nvSpPr>
        <p:spPr>
          <a:xfrm>
            <a:off x="2697480" y="1042416"/>
            <a:ext cx="256032" cy="256032"/>
          </a:xfrm>
          <a:prstGeom prst="ellipse">
            <a:avLst/>
          </a:prstGeom>
          <a:solidFill>
            <a:srgbClr val="27AE60"/>
          </a:solidFill>
          <a:ln w="12700">
            <a:solidFill>
              <a:srgbClr val="27AE60"/>
            </a:solidFill>
            <a:prstDash val="solid"/>
          </a:ln>
        </p:spPr>
        <p:txBody>
          <a:bodyPr/>
          <a:lstStyle/>
          <a:p>
            <a:endParaRPr lang="en-US"/>
          </a:p>
        </p:txBody>
      </p:sp>
      <p:sp>
        <p:nvSpPr>
          <p:cNvPr id="10" name="Text 8"/>
          <p:cNvSpPr/>
          <p:nvPr/>
        </p:nvSpPr>
        <p:spPr>
          <a:xfrm>
            <a:off x="2697480" y="10424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1" name="Shape 9"/>
          <p:cNvSpPr/>
          <p:nvPr/>
        </p:nvSpPr>
        <p:spPr>
          <a:xfrm>
            <a:off x="3246120" y="100584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12" name="Shape 10"/>
          <p:cNvSpPr/>
          <p:nvPr/>
        </p:nvSpPr>
        <p:spPr>
          <a:xfrm>
            <a:off x="3246120" y="1005840"/>
            <a:ext cx="2743200" cy="384048"/>
          </a:xfrm>
          <a:prstGeom prst="roundRect">
            <a:avLst>
              <a:gd name="adj" fmla="val 23810"/>
            </a:avLst>
          </a:prstGeom>
          <a:solidFill>
            <a:srgbClr val="0C4D91"/>
          </a:solidFill>
          <a:ln w="12700">
            <a:solidFill>
              <a:srgbClr val="0C4D91"/>
            </a:solidFill>
            <a:prstDash val="solid"/>
          </a:ln>
        </p:spPr>
        <p:txBody>
          <a:bodyPr/>
          <a:lstStyle/>
          <a:p>
            <a:endParaRPr lang="en-US"/>
          </a:p>
        </p:txBody>
      </p:sp>
      <p:sp>
        <p:nvSpPr>
          <p:cNvPr id="13" name="Shape 11"/>
          <p:cNvSpPr/>
          <p:nvPr/>
        </p:nvSpPr>
        <p:spPr>
          <a:xfrm>
            <a:off x="3246120" y="1207008"/>
            <a:ext cx="2743200" cy="182880"/>
          </a:xfrm>
          <a:prstGeom prst="rect">
            <a:avLst/>
          </a:prstGeom>
          <a:solidFill>
            <a:srgbClr val="0C4D91"/>
          </a:solidFill>
          <a:ln w="12700">
            <a:solidFill>
              <a:srgbClr val="0C4D91"/>
            </a:solidFill>
            <a:prstDash val="solid"/>
          </a:ln>
        </p:spPr>
        <p:txBody>
          <a:bodyPr/>
          <a:lstStyle/>
          <a:p>
            <a:endParaRPr lang="en-US"/>
          </a:p>
        </p:txBody>
      </p:sp>
      <p:sp>
        <p:nvSpPr>
          <p:cNvPr id="14" name="Text 12"/>
          <p:cNvSpPr/>
          <p:nvPr/>
        </p:nvSpPr>
        <p:spPr>
          <a:xfrm>
            <a:off x="3337560" y="105156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Social &amp; Community</a:t>
            </a:r>
            <a:endParaRPr lang="en-US" sz="1000" dirty="0"/>
          </a:p>
        </p:txBody>
      </p:sp>
      <p:sp>
        <p:nvSpPr>
          <p:cNvPr id="15" name="Text 13"/>
          <p:cNvSpPr/>
          <p:nvPr/>
        </p:nvSpPr>
        <p:spPr>
          <a:xfrm>
            <a:off x="3355848" y="144475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Feed</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Forums (73 taxonomy tags, 5 filter categories)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Introductions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Mentors Directory</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Resources</a:t>
            </a:r>
            <a:endParaRPr lang="en-US" sz="900" dirty="0"/>
          </a:p>
        </p:txBody>
      </p:sp>
      <p:sp>
        <p:nvSpPr>
          <p:cNvPr id="16" name="Shape 14"/>
          <p:cNvSpPr/>
          <p:nvPr/>
        </p:nvSpPr>
        <p:spPr>
          <a:xfrm>
            <a:off x="5669280" y="1042416"/>
            <a:ext cx="256032" cy="256032"/>
          </a:xfrm>
          <a:prstGeom prst="ellipse">
            <a:avLst/>
          </a:prstGeom>
          <a:solidFill>
            <a:srgbClr val="27AE60"/>
          </a:solidFill>
          <a:ln w="12700">
            <a:solidFill>
              <a:srgbClr val="27AE60"/>
            </a:solidFill>
            <a:prstDash val="solid"/>
          </a:ln>
        </p:spPr>
        <p:txBody>
          <a:bodyPr/>
          <a:lstStyle/>
          <a:p>
            <a:endParaRPr lang="en-US"/>
          </a:p>
        </p:txBody>
      </p:sp>
      <p:sp>
        <p:nvSpPr>
          <p:cNvPr id="17" name="Text 15"/>
          <p:cNvSpPr/>
          <p:nvPr/>
        </p:nvSpPr>
        <p:spPr>
          <a:xfrm>
            <a:off x="5669280" y="10424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8" name="Shape 16"/>
          <p:cNvSpPr/>
          <p:nvPr/>
        </p:nvSpPr>
        <p:spPr>
          <a:xfrm>
            <a:off x="6217920" y="100584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19" name="Shape 17"/>
          <p:cNvSpPr/>
          <p:nvPr/>
        </p:nvSpPr>
        <p:spPr>
          <a:xfrm>
            <a:off x="6217920" y="1005840"/>
            <a:ext cx="2743200" cy="384048"/>
          </a:xfrm>
          <a:prstGeom prst="roundRect">
            <a:avLst>
              <a:gd name="adj" fmla="val 23810"/>
            </a:avLst>
          </a:prstGeom>
          <a:solidFill>
            <a:srgbClr val="155280"/>
          </a:solidFill>
          <a:ln w="12700">
            <a:solidFill>
              <a:srgbClr val="155280"/>
            </a:solidFill>
            <a:prstDash val="solid"/>
          </a:ln>
        </p:spPr>
        <p:txBody>
          <a:bodyPr/>
          <a:lstStyle/>
          <a:p>
            <a:endParaRPr lang="en-US"/>
          </a:p>
        </p:txBody>
      </p:sp>
      <p:sp>
        <p:nvSpPr>
          <p:cNvPr id="20" name="Shape 18"/>
          <p:cNvSpPr/>
          <p:nvPr/>
        </p:nvSpPr>
        <p:spPr>
          <a:xfrm>
            <a:off x="6217920" y="1207008"/>
            <a:ext cx="2743200" cy="182880"/>
          </a:xfrm>
          <a:prstGeom prst="rect">
            <a:avLst/>
          </a:prstGeom>
          <a:solidFill>
            <a:srgbClr val="155280"/>
          </a:solidFill>
          <a:ln w="12700">
            <a:solidFill>
              <a:srgbClr val="155280"/>
            </a:solidFill>
            <a:prstDash val="solid"/>
          </a:ln>
        </p:spPr>
        <p:txBody>
          <a:bodyPr/>
          <a:lstStyle/>
          <a:p>
            <a:endParaRPr lang="en-US"/>
          </a:p>
        </p:txBody>
      </p:sp>
      <p:sp>
        <p:nvSpPr>
          <p:cNvPr id="21" name="Text 19"/>
          <p:cNvSpPr/>
          <p:nvPr/>
        </p:nvSpPr>
        <p:spPr>
          <a:xfrm>
            <a:off x="6309360" y="105156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Profile &amp; Settings</a:t>
            </a:r>
            <a:endParaRPr lang="en-US" sz="1000" dirty="0"/>
          </a:p>
        </p:txBody>
      </p:sp>
      <p:sp>
        <p:nvSpPr>
          <p:cNvPr id="22" name="Text 20"/>
          <p:cNvSpPr/>
          <p:nvPr/>
        </p:nvSpPr>
        <p:spPr>
          <a:xfrm>
            <a:off x="6327648" y="144475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Member Profile (5 tabs)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Edit Profile (6 screens)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Account Settings</a:t>
            </a:r>
            <a:endParaRPr lang="en-US" sz="900" dirty="0"/>
          </a:p>
        </p:txBody>
      </p:sp>
      <p:sp>
        <p:nvSpPr>
          <p:cNvPr id="23" name="Shape 21"/>
          <p:cNvSpPr/>
          <p:nvPr/>
        </p:nvSpPr>
        <p:spPr>
          <a:xfrm>
            <a:off x="8641080" y="1042416"/>
            <a:ext cx="256032" cy="256032"/>
          </a:xfrm>
          <a:prstGeom prst="ellipse">
            <a:avLst/>
          </a:prstGeom>
          <a:solidFill>
            <a:srgbClr val="27AE60"/>
          </a:solidFill>
          <a:ln w="12700">
            <a:solidFill>
              <a:srgbClr val="27AE60"/>
            </a:solidFill>
            <a:prstDash val="solid"/>
          </a:ln>
        </p:spPr>
        <p:txBody>
          <a:bodyPr/>
          <a:lstStyle/>
          <a:p>
            <a:endParaRPr lang="en-US"/>
          </a:p>
        </p:txBody>
      </p:sp>
      <p:sp>
        <p:nvSpPr>
          <p:cNvPr id="24" name="Text 22"/>
          <p:cNvSpPr/>
          <p:nvPr/>
        </p:nvSpPr>
        <p:spPr>
          <a:xfrm>
            <a:off x="8641080" y="10424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25" name="Shape 23"/>
          <p:cNvSpPr/>
          <p:nvPr/>
        </p:nvSpPr>
        <p:spPr>
          <a:xfrm>
            <a:off x="274320" y="301752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26" name="Shape 24"/>
          <p:cNvSpPr/>
          <p:nvPr/>
        </p:nvSpPr>
        <p:spPr>
          <a:xfrm>
            <a:off x="274320" y="3017520"/>
            <a:ext cx="2743200" cy="384048"/>
          </a:xfrm>
          <a:prstGeom prst="roundRect">
            <a:avLst>
              <a:gd name="adj" fmla="val 23810"/>
            </a:avLst>
          </a:prstGeom>
          <a:solidFill>
            <a:srgbClr val="1565A0"/>
          </a:solidFill>
          <a:ln w="12700">
            <a:solidFill>
              <a:srgbClr val="1565A0"/>
            </a:solidFill>
            <a:prstDash val="solid"/>
          </a:ln>
        </p:spPr>
        <p:txBody>
          <a:bodyPr/>
          <a:lstStyle/>
          <a:p>
            <a:endParaRPr lang="en-US"/>
          </a:p>
        </p:txBody>
      </p:sp>
      <p:sp>
        <p:nvSpPr>
          <p:cNvPr id="27" name="Shape 25"/>
          <p:cNvSpPr/>
          <p:nvPr/>
        </p:nvSpPr>
        <p:spPr>
          <a:xfrm>
            <a:off x="274320" y="3218688"/>
            <a:ext cx="2743200" cy="182880"/>
          </a:xfrm>
          <a:prstGeom prst="rect">
            <a:avLst/>
          </a:prstGeom>
          <a:solidFill>
            <a:srgbClr val="1565A0"/>
          </a:solidFill>
          <a:ln w="12700">
            <a:solidFill>
              <a:srgbClr val="1565A0"/>
            </a:solidFill>
            <a:prstDash val="solid"/>
          </a:ln>
        </p:spPr>
        <p:txBody>
          <a:bodyPr/>
          <a:lstStyle/>
          <a:p>
            <a:endParaRPr lang="en-US"/>
          </a:p>
        </p:txBody>
      </p:sp>
      <p:sp>
        <p:nvSpPr>
          <p:cNvPr id="28" name="Text 26"/>
          <p:cNvSpPr/>
          <p:nvPr/>
        </p:nvSpPr>
        <p:spPr>
          <a:xfrm>
            <a:off x="365760" y="306324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Learning &amp; Events</a:t>
            </a:r>
            <a:endParaRPr lang="en-US" sz="1000" dirty="0"/>
          </a:p>
        </p:txBody>
      </p:sp>
      <p:sp>
        <p:nvSpPr>
          <p:cNvPr id="29" name="Text 27"/>
          <p:cNvSpPr/>
          <p:nvPr/>
        </p:nvSpPr>
        <p:spPr>
          <a:xfrm>
            <a:off x="384048" y="345643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Courses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Course Detail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Lesson Detail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Certifications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Events Screen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Event Detail</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Event Thank You</a:t>
            </a:r>
            <a:endParaRPr lang="en-US" sz="900" dirty="0"/>
          </a:p>
        </p:txBody>
      </p:sp>
      <p:sp>
        <p:nvSpPr>
          <p:cNvPr id="30" name="Shape 28"/>
          <p:cNvSpPr/>
          <p:nvPr/>
        </p:nvSpPr>
        <p:spPr>
          <a:xfrm>
            <a:off x="2697480" y="3054096"/>
            <a:ext cx="256032" cy="256032"/>
          </a:xfrm>
          <a:prstGeom prst="ellipse">
            <a:avLst/>
          </a:prstGeom>
          <a:solidFill>
            <a:srgbClr val="27AE60"/>
          </a:solidFill>
          <a:ln w="12700">
            <a:solidFill>
              <a:srgbClr val="27AE60"/>
            </a:solidFill>
            <a:prstDash val="solid"/>
          </a:ln>
        </p:spPr>
        <p:txBody>
          <a:bodyPr/>
          <a:lstStyle/>
          <a:p>
            <a:endParaRPr lang="en-US"/>
          </a:p>
        </p:txBody>
      </p:sp>
      <p:sp>
        <p:nvSpPr>
          <p:cNvPr id="31" name="Text 29"/>
          <p:cNvSpPr/>
          <p:nvPr/>
        </p:nvSpPr>
        <p:spPr>
          <a:xfrm>
            <a:off x="2697480" y="30540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32" name="Shape 30"/>
          <p:cNvSpPr/>
          <p:nvPr/>
        </p:nvSpPr>
        <p:spPr>
          <a:xfrm>
            <a:off x="3246120" y="301752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33" name="Shape 31"/>
          <p:cNvSpPr/>
          <p:nvPr/>
        </p:nvSpPr>
        <p:spPr>
          <a:xfrm>
            <a:off x="3246120" y="3017520"/>
            <a:ext cx="2743200" cy="384048"/>
          </a:xfrm>
          <a:prstGeom prst="roundRect">
            <a:avLst>
              <a:gd name="adj" fmla="val 23810"/>
            </a:avLst>
          </a:prstGeom>
          <a:solidFill>
            <a:srgbClr val="0D3D6B"/>
          </a:solidFill>
          <a:ln w="12700">
            <a:solidFill>
              <a:srgbClr val="0D3D6B"/>
            </a:solidFill>
            <a:prstDash val="solid"/>
          </a:ln>
        </p:spPr>
        <p:txBody>
          <a:bodyPr/>
          <a:lstStyle/>
          <a:p>
            <a:endParaRPr lang="en-US"/>
          </a:p>
        </p:txBody>
      </p:sp>
      <p:sp>
        <p:nvSpPr>
          <p:cNvPr id="34" name="Shape 32"/>
          <p:cNvSpPr/>
          <p:nvPr/>
        </p:nvSpPr>
        <p:spPr>
          <a:xfrm>
            <a:off x="3246120" y="3218688"/>
            <a:ext cx="2743200" cy="182880"/>
          </a:xfrm>
          <a:prstGeom prst="rect">
            <a:avLst/>
          </a:prstGeom>
          <a:solidFill>
            <a:srgbClr val="0D3D6B"/>
          </a:solidFill>
          <a:ln w="12700">
            <a:solidFill>
              <a:srgbClr val="0D3D6B"/>
            </a:solidFill>
            <a:prstDash val="solid"/>
          </a:ln>
        </p:spPr>
        <p:txBody>
          <a:bodyPr/>
          <a:lstStyle/>
          <a:p>
            <a:endParaRPr lang="en-US"/>
          </a:p>
        </p:txBody>
      </p:sp>
      <p:sp>
        <p:nvSpPr>
          <p:cNvPr id="35" name="Text 33"/>
          <p:cNvSpPr/>
          <p:nvPr/>
        </p:nvSpPr>
        <p:spPr>
          <a:xfrm>
            <a:off x="3337560" y="306324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Messaging &amp; Store</a:t>
            </a:r>
            <a:endParaRPr lang="en-US" sz="1000" dirty="0"/>
          </a:p>
        </p:txBody>
      </p:sp>
      <p:sp>
        <p:nvSpPr>
          <p:cNvPr id="36" name="Text 34"/>
          <p:cNvSpPr/>
          <p:nvPr/>
        </p:nvSpPr>
        <p:spPr>
          <a:xfrm>
            <a:off x="3355848" y="345643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DM List</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DM Conversation</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New Message</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DM Members</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Store (Courses / Certs / PM Softwares tabs)</a:t>
            </a:r>
            <a:endParaRPr lang="en-US" sz="900" dirty="0"/>
          </a:p>
        </p:txBody>
      </p:sp>
      <p:sp>
        <p:nvSpPr>
          <p:cNvPr id="37" name="Shape 35"/>
          <p:cNvSpPr/>
          <p:nvPr/>
        </p:nvSpPr>
        <p:spPr>
          <a:xfrm>
            <a:off x="5669280" y="3054096"/>
            <a:ext cx="256032" cy="256032"/>
          </a:xfrm>
          <a:prstGeom prst="ellipse">
            <a:avLst/>
          </a:prstGeom>
          <a:solidFill>
            <a:srgbClr val="27AE60"/>
          </a:solidFill>
          <a:ln w="12700">
            <a:solidFill>
              <a:srgbClr val="27AE60"/>
            </a:solidFill>
            <a:prstDash val="solid"/>
          </a:ln>
        </p:spPr>
        <p:txBody>
          <a:bodyPr/>
          <a:lstStyle/>
          <a:p>
            <a:endParaRPr lang="en-US"/>
          </a:p>
        </p:txBody>
      </p:sp>
      <p:sp>
        <p:nvSpPr>
          <p:cNvPr id="38" name="Text 36"/>
          <p:cNvSpPr/>
          <p:nvPr/>
        </p:nvSpPr>
        <p:spPr>
          <a:xfrm>
            <a:off x="5669280" y="30540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39" name="Shape 37"/>
          <p:cNvSpPr/>
          <p:nvPr/>
        </p:nvSpPr>
        <p:spPr>
          <a:xfrm>
            <a:off x="6217920" y="3017520"/>
            <a:ext cx="2743200" cy="1874520"/>
          </a:xfrm>
          <a:prstGeom prst="roundRect">
            <a:avLst>
              <a:gd name="adj" fmla="val 4878"/>
            </a:avLst>
          </a:prstGeom>
          <a:solidFill>
            <a:srgbClr val="F4F6FA"/>
          </a:solidFill>
          <a:ln w="12700">
            <a:solidFill>
              <a:srgbClr val="DDE3EF"/>
            </a:solidFill>
            <a:prstDash val="solid"/>
          </a:ln>
          <a:effectLst>
            <a:outerShdw blurRad="63500" dist="25400" dir="2700000" algn="bl" rotWithShape="0">
              <a:srgbClr val="000000">
                <a:alpha val="8000"/>
              </a:srgbClr>
            </a:outerShdw>
          </a:effectLst>
        </p:spPr>
        <p:txBody>
          <a:bodyPr/>
          <a:lstStyle/>
          <a:p>
            <a:endParaRPr lang="en-US"/>
          </a:p>
        </p:txBody>
      </p:sp>
      <p:sp>
        <p:nvSpPr>
          <p:cNvPr id="40" name="Shape 38"/>
          <p:cNvSpPr/>
          <p:nvPr/>
        </p:nvSpPr>
        <p:spPr>
          <a:xfrm>
            <a:off x="6217920" y="3017520"/>
            <a:ext cx="2743200" cy="384048"/>
          </a:xfrm>
          <a:prstGeom prst="roundRect">
            <a:avLst>
              <a:gd name="adj" fmla="val 23810"/>
            </a:avLst>
          </a:prstGeom>
          <a:solidFill>
            <a:srgbClr val="192546"/>
          </a:solidFill>
          <a:ln w="12700">
            <a:solidFill>
              <a:srgbClr val="192546"/>
            </a:solidFill>
            <a:prstDash val="solid"/>
          </a:ln>
        </p:spPr>
        <p:txBody>
          <a:bodyPr/>
          <a:lstStyle/>
          <a:p>
            <a:endParaRPr lang="en-US"/>
          </a:p>
        </p:txBody>
      </p:sp>
      <p:sp>
        <p:nvSpPr>
          <p:cNvPr id="41" name="Shape 39"/>
          <p:cNvSpPr/>
          <p:nvPr/>
        </p:nvSpPr>
        <p:spPr>
          <a:xfrm>
            <a:off x="6217920" y="3218688"/>
            <a:ext cx="2743200" cy="182880"/>
          </a:xfrm>
          <a:prstGeom prst="rect">
            <a:avLst/>
          </a:prstGeom>
          <a:solidFill>
            <a:srgbClr val="192546"/>
          </a:solidFill>
          <a:ln w="12700">
            <a:solidFill>
              <a:srgbClr val="192546"/>
            </a:solidFill>
            <a:prstDash val="solid"/>
          </a:ln>
        </p:spPr>
        <p:txBody>
          <a:bodyPr/>
          <a:lstStyle/>
          <a:p>
            <a:endParaRPr lang="en-US"/>
          </a:p>
        </p:txBody>
      </p:sp>
      <p:sp>
        <p:nvSpPr>
          <p:cNvPr id="42" name="Text 40"/>
          <p:cNvSpPr/>
          <p:nvPr/>
        </p:nvSpPr>
        <p:spPr>
          <a:xfrm>
            <a:off x="6309360" y="3063240"/>
            <a:ext cx="2560320" cy="3200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Badges (Phase 1 UI)</a:t>
            </a:r>
            <a:endParaRPr lang="en-US" sz="1000" dirty="0"/>
          </a:p>
        </p:txBody>
      </p:sp>
      <p:sp>
        <p:nvSpPr>
          <p:cNvPr id="43" name="Text 41"/>
          <p:cNvSpPr/>
          <p:nvPr/>
        </p:nvSpPr>
        <p:spPr>
          <a:xfrm>
            <a:off x="6327648" y="3456432"/>
            <a:ext cx="2542032" cy="1371600"/>
          </a:xfrm>
          <a:prstGeom prst="rect">
            <a:avLst/>
          </a:prstGeom>
          <a:noFill/>
          <a:ln/>
        </p:spPr>
        <p:txBody>
          <a:bodyPr wrap="square" rtlCol="0" anchor="ctr"/>
          <a:lstStyle/>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Badges Screen — IPM Member Badge</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Gamified badge display</a:t>
            </a:r>
            <a:endParaRPr lang="en-US" sz="900" dirty="0"/>
          </a:p>
          <a:p>
            <a:pPr marL="342900" indent="-342900">
              <a:spcAft>
                <a:spcPts val="200"/>
              </a:spcAft>
              <a:buSzPct val="100000"/>
              <a:buChar char="•"/>
            </a:pPr>
            <a:r>
              <a:rPr lang="en-US" sz="900" dirty="0">
                <a:solidFill>
                  <a:srgbClr val="2C3E50"/>
                </a:solidFill>
                <a:latin typeface="Calibri" pitchFamily="34" charset="0"/>
                <a:ea typeface="Calibri" pitchFamily="34" charset="-122"/>
                <a:cs typeface="Calibri" pitchFamily="34" charset="-120"/>
              </a:rPr>
              <a:t>Badge progress UI (awaiting live endpoint)</a:t>
            </a:r>
            <a:endParaRPr lang="en-US" sz="900" dirty="0"/>
          </a:p>
        </p:txBody>
      </p:sp>
      <p:sp>
        <p:nvSpPr>
          <p:cNvPr id="44" name="Shape 42"/>
          <p:cNvSpPr/>
          <p:nvPr/>
        </p:nvSpPr>
        <p:spPr>
          <a:xfrm>
            <a:off x="8641080" y="3054096"/>
            <a:ext cx="256032" cy="256032"/>
          </a:xfrm>
          <a:prstGeom prst="ellipse">
            <a:avLst/>
          </a:prstGeom>
          <a:solidFill>
            <a:srgbClr val="27AE60"/>
          </a:solidFill>
          <a:ln w="12700">
            <a:solidFill>
              <a:srgbClr val="27AE60"/>
            </a:solidFill>
            <a:prstDash val="solid"/>
          </a:ln>
        </p:spPr>
        <p:txBody>
          <a:bodyPr/>
          <a:lstStyle/>
          <a:p>
            <a:endParaRPr lang="en-US"/>
          </a:p>
        </p:txBody>
      </p:sp>
      <p:sp>
        <p:nvSpPr>
          <p:cNvPr id="45" name="Text 43"/>
          <p:cNvSpPr/>
          <p:nvPr/>
        </p:nvSpPr>
        <p:spPr>
          <a:xfrm>
            <a:off x="8641080" y="30540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92546"/>
        </a:solidFill>
        <a:effectLst/>
      </p:bgPr>
    </p:bg>
    <p:spTree>
      <p:nvGrpSpPr>
        <p:cNvPr id="1" name=""/>
        <p:cNvGrpSpPr/>
        <p:nvPr/>
      </p:nvGrpSpPr>
      <p:grpSpPr>
        <a:xfrm>
          <a:off x="0" y="0"/>
          <a:ext cx="0" cy="0"/>
          <a:chOff x="0" y="0"/>
          <a:chExt cx="0" cy="0"/>
        </a:xfrm>
      </p:grpSpPr>
      <p:sp>
        <p:nvSpPr>
          <p:cNvPr id="2" name="Text 0"/>
          <p:cNvSpPr/>
          <p:nvPr/>
        </p:nvSpPr>
        <p:spPr>
          <a:xfrm>
            <a:off x="457200" y="189914"/>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TECHNICAL ACHIEVEMENTS</a:t>
            </a:r>
            <a:endParaRPr lang="en-US" sz="2200" dirty="0"/>
          </a:p>
        </p:txBody>
      </p:sp>
      <p:sp>
        <p:nvSpPr>
          <p:cNvPr id="3" name="Shape 1"/>
          <p:cNvSpPr/>
          <p:nvPr/>
        </p:nvSpPr>
        <p:spPr>
          <a:xfrm>
            <a:off x="457200" y="804672"/>
            <a:ext cx="8229600" cy="36576"/>
          </a:xfrm>
          <a:prstGeom prst="rect">
            <a:avLst/>
          </a:prstGeom>
          <a:solidFill>
            <a:srgbClr val="46B0E3"/>
          </a:solidFill>
          <a:ln w="12700">
            <a:solidFill>
              <a:srgbClr val="46B0E3"/>
            </a:solidFill>
            <a:prstDash val="solid"/>
          </a:ln>
        </p:spPr>
        <p:txBody>
          <a:bodyPr/>
          <a:lstStyle/>
          <a:p>
            <a:endParaRPr lang="en-US"/>
          </a:p>
        </p:txBody>
      </p:sp>
      <p:sp>
        <p:nvSpPr>
          <p:cNvPr id="4" name="Shape 2"/>
          <p:cNvSpPr/>
          <p:nvPr/>
        </p:nvSpPr>
        <p:spPr>
          <a:xfrm>
            <a:off x="365760" y="9601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5" name="Text 3"/>
          <p:cNvSpPr/>
          <p:nvPr/>
        </p:nvSpPr>
        <p:spPr>
          <a:xfrm>
            <a:off x="530352" y="10515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Secure Authentication</a:t>
            </a:r>
            <a:endParaRPr lang="en-US" sz="1200" dirty="0"/>
          </a:p>
        </p:txBody>
      </p:sp>
      <p:sp>
        <p:nvSpPr>
          <p:cNvPr id="6" name="Text 4"/>
          <p:cNvSpPr/>
          <p:nvPr/>
        </p:nvSpPr>
        <p:spPr>
          <a:xfrm>
            <a:off x="530352" y="13990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JWT stored in device Keychain; first-login detection via server-side BuddyBoss xProfile check (Job Title field empty = new user)</a:t>
            </a:r>
            <a:endParaRPr lang="en-US" sz="1000" dirty="0"/>
          </a:p>
        </p:txBody>
      </p:sp>
      <p:sp>
        <p:nvSpPr>
          <p:cNvPr id="7" name="Shape 5"/>
          <p:cNvSpPr/>
          <p:nvPr/>
        </p:nvSpPr>
        <p:spPr>
          <a:xfrm>
            <a:off x="4800600" y="9601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8" name="Text 6"/>
          <p:cNvSpPr/>
          <p:nvPr/>
        </p:nvSpPr>
        <p:spPr>
          <a:xfrm>
            <a:off x="4965192" y="10515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Custom API Layer</a:t>
            </a:r>
            <a:endParaRPr lang="en-US" sz="1200" dirty="0"/>
          </a:p>
        </p:txBody>
      </p:sp>
      <p:sp>
        <p:nvSpPr>
          <p:cNvPr id="9" name="Text 7"/>
          <p:cNvSpPr/>
          <p:nvPr/>
        </p:nvSpPr>
        <p:spPr>
          <a:xfrm>
            <a:off x="4965192" y="13990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mu-plugin ipm-register.php with WPCode integration; all real BuddyBoss/LearnDash/WooCommerce endpoints wired — no fake data policy</a:t>
            </a:r>
            <a:endParaRPr lang="en-US" sz="1000" dirty="0"/>
          </a:p>
        </p:txBody>
      </p:sp>
      <p:sp>
        <p:nvSpPr>
          <p:cNvPr id="10" name="Shape 8"/>
          <p:cNvSpPr/>
          <p:nvPr/>
        </p:nvSpPr>
        <p:spPr>
          <a:xfrm>
            <a:off x="365760" y="23317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11" name="Text 9"/>
          <p:cNvSpPr/>
          <p:nvPr/>
        </p:nvSpPr>
        <p:spPr>
          <a:xfrm>
            <a:off x="530352" y="24231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Pixel-Perfect UI</a:t>
            </a:r>
            <a:endParaRPr lang="en-US" sz="1200" dirty="0"/>
          </a:p>
        </p:txBody>
      </p:sp>
      <p:sp>
        <p:nvSpPr>
          <p:cNvPr id="12" name="Text 10"/>
          <p:cNvSpPr/>
          <p:nvPr/>
        </p:nvSpPr>
        <p:spPr>
          <a:xfrm>
            <a:off x="530352" y="27706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Figma specs treated as exact requirements; Runda font family, IPM brand palette (Navy #192546, Light Blue #46B0E3); 73 real forum taxonomy tags</a:t>
            </a:r>
            <a:endParaRPr lang="en-US" sz="1000" dirty="0"/>
          </a:p>
        </p:txBody>
      </p:sp>
      <p:sp>
        <p:nvSpPr>
          <p:cNvPr id="13" name="Shape 11"/>
          <p:cNvSpPr/>
          <p:nvPr/>
        </p:nvSpPr>
        <p:spPr>
          <a:xfrm>
            <a:off x="4800600" y="23317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14" name="Text 12"/>
          <p:cNvSpPr/>
          <p:nvPr/>
        </p:nvSpPr>
        <p:spPr>
          <a:xfrm>
            <a:off x="4965192" y="24231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Full Direct Messaging</a:t>
            </a:r>
            <a:endParaRPr lang="en-US" sz="1200" dirty="0"/>
          </a:p>
        </p:txBody>
      </p:sp>
      <p:sp>
        <p:nvSpPr>
          <p:cNvPr id="15" name="Text 13"/>
          <p:cNvSpPr/>
          <p:nvPr/>
        </p:nvSpPr>
        <p:spPr>
          <a:xfrm>
            <a:off x="4965192" y="27706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BuddyBoss /messages API integration with thread support, recipients array handling, and new-conversation flow</a:t>
            </a:r>
            <a:endParaRPr lang="en-US" sz="1000" dirty="0"/>
          </a:p>
        </p:txBody>
      </p:sp>
      <p:sp>
        <p:nvSpPr>
          <p:cNvPr id="16" name="Shape 14"/>
          <p:cNvSpPr/>
          <p:nvPr/>
        </p:nvSpPr>
        <p:spPr>
          <a:xfrm>
            <a:off x="365760" y="37033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17" name="Text 15"/>
          <p:cNvSpPr/>
          <p:nvPr/>
        </p:nvSpPr>
        <p:spPr>
          <a:xfrm>
            <a:off x="530352" y="37947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Android Compatibility</a:t>
            </a:r>
            <a:endParaRPr lang="en-US" sz="1200" dirty="0"/>
          </a:p>
        </p:txBody>
      </p:sp>
      <p:sp>
        <p:nvSpPr>
          <p:cNvPr id="18" name="Text 16"/>
          <p:cNvSpPr/>
          <p:nvPr/>
        </p:nvSpPr>
        <p:spPr>
          <a:xfrm>
            <a:off x="530352" y="41422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Fixed: no atob() on Hermes, overflow:hidden causing zero-height cards, gap→marginBottom, nested TouchableOpacity tap issues resolved with onStartShouldSetResponder</a:t>
            </a:r>
            <a:endParaRPr lang="en-US" sz="1000" dirty="0"/>
          </a:p>
        </p:txBody>
      </p:sp>
      <p:sp>
        <p:nvSpPr>
          <p:cNvPr id="19" name="Shape 17"/>
          <p:cNvSpPr/>
          <p:nvPr/>
        </p:nvSpPr>
        <p:spPr>
          <a:xfrm>
            <a:off x="4800600" y="3703320"/>
            <a:ext cx="4160520" cy="1234440"/>
          </a:xfrm>
          <a:prstGeom prst="roundRect">
            <a:avLst>
              <a:gd name="adj" fmla="val 7407"/>
            </a:avLst>
          </a:prstGeom>
          <a:solidFill>
            <a:srgbClr val="0C4D91">
              <a:alpha val="70000"/>
            </a:srgbClr>
          </a:solidFill>
          <a:ln w="12700">
            <a:solidFill>
              <a:srgbClr val="46B0E3">
                <a:alpha val="50000"/>
              </a:srgbClr>
            </a:solidFill>
            <a:prstDash val="solid"/>
          </a:ln>
        </p:spPr>
        <p:txBody>
          <a:bodyPr/>
          <a:lstStyle/>
          <a:p>
            <a:endParaRPr lang="en-US"/>
          </a:p>
        </p:txBody>
      </p:sp>
      <p:sp>
        <p:nvSpPr>
          <p:cNvPr id="20" name="Text 18"/>
          <p:cNvSpPr/>
          <p:nvPr/>
        </p:nvSpPr>
        <p:spPr>
          <a:xfrm>
            <a:off x="4965192" y="3794760"/>
            <a:ext cx="3749040" cy="347472"/>
          </a:xfrm>
          <a:prstGeom prst="rect">
            <a:avLst/>
          </a:prstGeom>
          <a:noFill/>
          <a:ln/>
        </p:spPr>
        <p:txBody>
          <a:bodyPr wrap="square" rtlCol="0" anchor="ctr"/>
          <a:lstStyle/>
          <a:p>
            <a:pPr marL="0" indent="0">
              <a:buNone/>
            </a:pPr>
            <a:r>
              <a:rPr lang="en-US" sz="1200" b="1" dirty="0">
                <a:solidFill>
                  <a:srgbClr val="46B0E3"/>
                </a:solidFill>
                <a:latin typeface="Calibri" pitchFamily="34" charset="0"/>
                <a:ea typeface="Calibri" pitchFamily="34" charset="-122"/>
                <a:cs typeface="Calibri" pitchFamily="34" charset="-120"/>
              </a:rPr>
              <a:t>🎓  Courses &amp; Learning</a:t>
            </a:r>
            <a:endParaRPr lang="en-US" sz="1200" dirty="0"/>
          </a:p>
        </p:txBody>
      </p:sp>
      <p:sp>
        <p:nvSpPr>
          <p:cNvPr id="21" name="Text 19"/>
          <p:cNvSpPr/>
          <p:nvPr/>
        </p:nvSpPr>
        <p:spPr>
          <a:xfrm>
            <a:off x="4965192" y="4142232"/>
            <a:ext cx="3749040" cy="713232"/>
          </a:xfrm>
          <a:prstGeom prst="rect">
            <a:avLst/>
          </a:prstGeom>
          <a:noFill/>
          <a:ln/>
        </p:spPr>
        <p:txBody>
          <a:bodyPr wrap="square" rtlCol="0" anchor="ctr"/>
          <a:lstStyle/>
          <a:p>
            <a:pPr marL="0" indent="0">
              <a:buNone/>
            </a:pPr>
            <a:r>
              <a:rPr lang="en-US" sz="1000" dirty="0">
                <a:solidFill>
                  <a:srgbClr val="C8D8EE"/>
                </a:solidFill>
                <a:latin typeface="Calibri" pitchFamily="34" charset="0"/>
                <a:ea typeface="Calibri" pitchFamily="34" charset="-122"/>
                <a:cs typeface="Calibri" pitchFamily="34" charset="-120"/>
              </a:rPr>
              <a:t>LearnDash course/lesson screens with progress tracking; Certifications module; Store with Courses, Certifications, and PM Software tabs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92546"/>
          </a:solidFill>
          <a:ln w="12700">
            <a:solidFill>
              <a:srgbClr val="192546"/>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ACTIVE TASKS IN PROGRESS</a:t>
            </a:r>
            <a:endParaRPr lang="en-US" sz="2200" dirty="0"/>
          </a:p>
        </p:txBody>
      </p:sp>
      <p:sp>
        <p:nvSpPr>
          <p:cNvPr id="4" name="Shape 2"/>
          <p:cNvSpPr/>
          <p:nvPr/>
        </p:nvSpPr>
        <p:spPr>
          <a:xfrm>
            <a:off x="320040" y="1005840"/>
            <a:ext cx="8503920" cy="868680"/>
          </a:xfrm>
          <a:prstGeom prst="roundRect">
            <a:avLst>
              <a:gd name="adj" fmla="val 8421"/>
            </a:avLst>
          </a:prstGeom>
          <a:solidFill>
            <a:srgbClr val="F4F6FA"/>
          </a:solidFill>
          <a:ln w="12700">
            <a:solidFill>
              <a:srgbClr val="DDE3EF"/>
            </a:solidFill>
            <a:prstDash val="solid"/>
          </a:ln>
          <a:effectLst>
            <a:outerShdw blurRad="50800" dist="12700" dir="2700000" algn="bl" rotWithShape="0">
              <a:srgbClr val="000000">
                <a:alpha val="7000"/>
              </a:srgbClr>
            </a:outerShdw>
          </a:effectLst>
        </p:spPr>
        <p:txBody>
          <a:bodyPr/>
          <a:lstStyle/>
          <a:p>
            <a:endParaRPr lang="en-US"/>
          </a:p>
        </p:txBody>
      </p:sp>
      <p:sp>
        <p:nvSpPr>
          <p:cNvPr id="5" name="Shape 3"/>
          <p:cNvSpPr/>
          <p:nvPr/>
        </p:nvSpPr>
        <p:spPr>
          <a:xfrm>
            <a:off x="457200" y="1115568"/>
            <a:ext cx="1005840" cy="274320"/>
          </a:xfrm>
          <a:prstGeom prst="roundRect">
            <a:avLst>
              <a:gd name="adj" fmla="val 50000"/>
            </a:avLst>
          </a:prstGeom>
          <a:solidFill>
            <a:srgbClr val="F39C12">
              <a:alpha val="85000"/>
            </a:srgbClr>
          </a:solidFill>
          <a:ln w="12700">
            <a:solidFill>
              <a:srgbClr val="F39C12">
                <a:alpha val="60000"/>
              </a:srgbClr>
            </a:solidFill>
            <a:prstDash val="solid"/>
          </a:ln>
        </p:spPr>
        <p:txBody>
          <a:bodyPr/>
          <a:lstStyle/>
          <a:p>
            <a:endParaRPr lang="en-US"/>
          </a:p>
        </p:txBody>
      </p:sp>
      <p:sp>
        <p:nvSpPr>
          <p:cNvPr id="6" name="Text 4"/>
          <p:cNvSpPr/>
          <p:nvPr/>
        </p:nvSpPr>
        <p:spPr>
          <a:xfrm>
            <a:off x="457200" y="1115568"/>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In Progress</a:t>
            </a:r>
            <a:endParaRPr lang="en-US" sz="800" dirty="0"/>
          </a:p>
        </p:txBody>
      </p:sp>
      <p:sp>
        <p:nvSpPr>
          <p:cNvPr id="7" name="Text 5"/>
          <p:cNvSpPr/>
          <p:nvPr/>
        </p:nvSpPr>
        <p:spPr>
          <a:xfrm>
            <a:off x="1600200" y="1078992"/>
            <a:ext cx="5029200" cy="320040"/>
          </a:xfrm>
          <a:prstGeom prst="rect">
            <a:avLst/>
          </a:prstGeom>
          <a:noFill/>
          <a:ln/>
        </p:spPr>
        <p:txBody>
          <a:bodyPr wrap="square" rtlCol="0" anchor="ctr"/>
          <a:lstStyle/>
          <a:p>
            <a:pPr marL="0" indent="0">
              <a:buNone/>
            </a:pPr>
            <a:r>
              <a:rPr lang="en-US" sz="1300" b="1" dirty="0">
                <a:solidFill>
                  <a:srgbClr val="192546"/>
                </a:solidFill>
                <a:latin typeface="Calibri" pitchFamily="34" charset="0"/>
                <a:ea typeface="Calibri" pitchFamily="34" charset="-122"/>
                <a:cs typeface="Calibri" pitchFamily="34" charset="-120"/>
              </a:rPr>
              <a:t>Third-Party Integrations (APIs)</a:t>
            </a:r>
            <a:endParaRPr lang="en-US" sz="1300" dirty="0"/>
          </a:p>
        </p:txBody>
      </p:sp>
      <p:sp>
        <p:nvSpPr>
          <p:cNvPr id="8" name="Text 6"/>
          <p:cNvSpPr/>
          <p:nvPr/>
        </p:nvSpPr>
        <p:spPr>
          <a:xfrm>
            <a:off x="6949440" y="1078992"/>
            <a:ext cx="1737360" cy="274320"/>
          </a:xfrm>
          <a:prstGeom prst="rect">
            <a:avLst/>
          </a:prstGeom>
          <a:noFill/>
          <a:ln/>
        </p:spPr>
        <p:txBody>
          <a:bodyPr wrap="square" rtlCol="0" anchor="ctr"/>
          <a:lstStyle/>
          <a:p>
            <a:pPr marL="0" indent="0" algn="r">
              <a:buNone/>
            </a:pPr>
            <a:r>
              <a:rPr lang="en-US" sz="1000" b="1" dirty="0">
                <a:solidFill>
                  <a:srgbClr val="F39C12"/>
                </a:solidFill>
                <a:latin typeface="Calibri" pitchFamily="34" charset="0"/>
                <a:ea typeface="Calibri" pitchFamily="34" charset="-122"/>
                <a:cs typeface="Calibri" pitchFamily="34" charset="-120"/>
              </a:rPr>
              <a:t>Due: Tomorrow</a:t>
            </a:r>
            <a:endParaRPr lang="en-US" sz="1000" dirty="0"/>
          </a:p>
        </p:txBody>
      </p:sp>
      <p:sp>
        <p:nvSpPr>
          <p:cNvPr id="9" name="Text 7"/>
          <p:cNvSpPr/>
          <p:nvPr/>
        </p:nvSpPr>
        <p:spPr>
          <a:xfrm>
            <a:off x="1600200" y="1435608"/>
            <a:ext cx="7040880" cy="347472"/>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Google Sign-In (awaiting correct webClientId from backend), LinkedIn OAuth via WebView modal, and ensuring all third-party API connections are production-ready.</a:t>
            </a:r>
            <a:endParaRPr lang="en-US" sz="950" dirty="0"/>
          </a:p>
        </p:txBody>
      </p:sp>
      <p:sp>
        <p:nvSpPr>
          <p:cNvPr id="10" name="Shape 8"/>
          <p:cNvSpPr/>
          <p:nvPr/>
        </p:nvSpPr>
        <p:spPr>
          <a:xfrm>
            <a:off x="320040" y="1993392"/>
            <a:ext cx="8503920" cy="868680"/>
          </a:xfrm>
          <a:prstGeom prst="roundRect">
            <a:avLst>
              <a:gd name="adj" fmla="val 8421"/>
            </a:avLst>
          </a:prstGeom>
          <a:solidFill>
            <a:srgbClr val="F4F6FA"/>
          </a:solidFill>
          <a:ln w="12700">
            <a:solidFill>
              <a:srgbClr val="DDE3EF"/>
            </a:solidFill>
            <a:prstDash val="solid"/>
          </a:ln>
          <a:effectLst>
            <a:outerShdw blurRad="50800" dist="12700" dir="2700000" algn="bl" rotWithShape="0">
              <a:srgbClr val="000000">
                <a:alpha val="7000"/>
              </a:srgbClr>
            </a:outerShdw>
          </a:effectLst>
        </p:spPr>
        <p:txBody>
          <a:bodyPr/>
          <a:lstStyle/>
          <a:p>
            <a:endParaRPr lang="en-US"/>
          </a:p>
        </p:txBody>
      </p:sp>
      <p:sp>
        <p:nvSpPr>
          <p:cNvPr id="11" name="Shape 9"/>
          <p:cNvSpPr/>
          <p:nvPr/>
        </p:nvSpPr>
        <p:spPr>
          <a:xfrm>
            <a:off x="457200" y="2103120"/>
            <a:ext cx="1005840" cy="274320"/>
          </a:xfrm>
          <a:prstGeom prst="roundRect">
            <a:avLst>
              <a:gd name="adj" fmla="val 50000"/>
            </a:avLst>
          </a:prstGeom>
          <a:solidFill>
            <a:srgbClr val="E74C3C">
              <a:alpha val="85000"/>
            </a:srgbClr>
          </a:solidFill>
          <a:ln w="12700">
            <a:solidFill>
              <a:srgbClr val="E74C3C">
                <a:alpha val="60000"/>
              </a:srgbClr>
            </a:solidFill>
            <a:prstDash val="solid"/>
          </a:ln>
        </p:spPr>
        <p:txBody>
          <a:bodyPr/>
          <a:lstStyle/>
          <a:p>
            <a:endParaRPr lang="en-US"/>
          </a:p>
        </p:txBody>
      </p:sp>
      <p:sp>
        <p:nvSpPr>
          <p:cNvPr id="12" name="Text 10"/>
          <p:cNvSpPr/>
          <p:nvPr/>
        </p:nvSpPr>
        <p:spPr>
          <a:xfrm>
            <a:off x="457200" y="2103120"/>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Overdue</a:t>
            </a:r>
            <a:endParaRPr lang="en-US" sz="800" dirty="0"/>
          </a:p>
        </p:txBody>
      </p:sp>
      <p:sp>
        <p:nvSpPr>
          <p:cNvPr id="13" name="Text 11"/>
          <p:cNvSpPr/>
          <p:nvPr/>
        </p:nvSpPr>
        <p:spPr>
          <a:xfrm>
            <a:off x="1600200" y="2066544"/>
            <a:ext cx="5029200" cy="320040"/>
          </a:xfrm>
          <a:prstGeom prst="rect">
            <a:avLst/>
          </a:prstGeom>
          <a:noFill/>
          <a:ln/>
        </p:spPr>
        <p:txBody>
          <a:bodyPr wrap="square" rtlCol="0" anchor="ctr"/>
          <a:lstStyle/>
          <a:p>
            <a:pPr marL="0" indent="0">
              <a:buNone/>
            </a:pPr>
            <a:r>
              <a:rPr lang="en-US" sz="1300" b="1" dirty="0">
                <a:solidFill>
                  <a:srgbClr val="192546"/>
                </a:solidFill>
                <a:latin typeface="Calibri" pitchFamily="34" charset="0"/>
                <a:ea typeface="Calibri" pitchFamily="34" charset="-122"/>
                <a:cs typeface="Calibri" pitchFamily="34" charset="-120"/>
              </a:rPr>
              <a:t>IPM HUB Store</a:t>
            </a:r>
            <a:endParaRPr lang="en-US" sz="1300" dirty="0"/>
          </a:p>
        </p:txBody>
      </p:sp>
      <p:sp>
        <p:nvSpPr>
          <p:cNvPr id="14" name="Text 12"/>
          <p:cNvSpPr/>
          <p:nvPr/>
        </p:nvSpPr>
        <p:spPr>
          <a:xfrm>
            <a:off x="6949440" y="2066544"/>
            <a:ext cx="1737360" cy="274320"/>
          </a:xfrm>
          <a:prstGeom prst="rect">
            <a:avLst/>
          </a:prstGeom>
          <a:noFill/>
          <a:ln/>
        </p:spPr>
        <p:txBody>
          <a:bodyPr wrap="square" rtlCol="0" anchor="ctr"/>
          <a:lstStyle/>
          <a:p>
            <a:pPr marL="0" indent="0" algn="r">
              <a:buNone/>
            </a:pPr>
            <a:r>
              <a:rPr lang="en-US" sz="1000" b="1" dirty="0">
                <a:solidFill>
                  <a:srgbClr val="E74C3C"/>
                </a:solidFill>
                <a:latin typeface="Calibri" pitchFamily="34" charset="0"/>
                <a:ea typeface="Calibri" pitchFamily="34" charset="-122"/>
                <a:cs typeface="Calibri" pitchFamily="34" charset="-120"/>
              </a:rPr>
              <a:t>Due: 6/22/26</a:t>
            </a:r>
            <a:endParaRPr lang="en-US" sz="1000" dirty="0"/>
          </a:p>
        </p:txBody>
      </p:sp>
      <p:sp>
        <p:nvSpPr>
          <p:cNvPr id="15" name="Text 13"/>
          <p:cNvSpPr/>
          <p:nvPr/>
        </p:nvSpPr>
        <p:spPr>
          <a:xfrm>
            <a:off x="1600200" y="2423160"/>
            <a:ext cx="7040880" cy="347472"/>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Store screen built with Courses, Certifications, and PM Softwares tabs. Real product pricing/descriptions need to be exposed via custom backend endpoints (ACF fields not yet in REST API).</a:t>
            </a:r>
            <a:endParaRPr lang="en-US" sz="950" dirty="0"/>
          </a:p>
        </p:txBody>
      </p:sp>
      <p:sp>
        <p:nvSpPr>
          <p:cNvPr id="16" name="Shape 14"/>
          <p:cNvSpPr/>
          <p:nvPr/>
        </p:nvSpPr>
        <p:spPr>
          <a:xfrm>
            <a:off x="320040" y="2980944"/>
            <a:ext cx="8503920" cy="868680"/>
          </a:xfrm>
          <a:prstGeom prst="roundRect">
            <a:avLst>
              <a:gd name="adj" fmla="val 8421"/>
            </a:avLst>
          </a:prstGeom>
          <a:solidFill>
            <a:srgbClr val="F4F6FA"/>
          </a:solidFill>
          <a:ln w="12700">
            <a:solidFill>
              <a:srgbClr val="DDE3EF"/>
            </a:solidFill>
            <a:prstDash val="solid"/>
          </a:ln>
          <a:effectLst>
            <a:outerShdw blurRad="50800" dist="12700" dir="2700000" algn="bl" rotWithShape="0">
              <a:srgbClr val="000000">
                <a:alpha val="7000"/>
              </a:srgbClr>
            </a:outerShdw>
          </a:effectLst>
        </p:spPr>
        <p:txBody>
          <a:bodyPr/>
          <a:lstStyle/>
          <a:p>
            <a:endParaRPr lang="en-US"/>
          </a:p>
        </p:txBody>
      </p:sp>
      <p:sp>
        <p:nvSpPr>
          <p:cNvPr id="17" name="Shape 15"/>
          <p:cNvSpPr/>
          <p:nvPr/>
        </p:nvSpPr>
        <p:spPr>
          <a:xfrm>
            <a:off x="457200" y="3090672"/>
            <a:ext cx="1005840" cy="274320"/>
          </a:xfrm>
          <a:prstGeom prst="roundRect">
            <a:avLst>
              <a:gd name="adj" fmla="val 50000"/>
            </a:avLst>
          </a:prstGeom>
          <a:solidFill>
            <a:srgbClr val="E74C3C">
              <a:alpha val="85000"/>
            </a:srgbClr>
          </a:solidFill>
          <a:ln w="12700">
            <a:solidFill>
              <a:srgbClr val="E74C3C">
                <a:alpha val="60000"/>
              </a:srgbClr>
            </a:solidFill>
            <a:prstDash val="solid"/>
          </a:ln>
        </p:spPr>
        <p:txBody>
          <a:bodyPr/>
          <a:lstStyle/>
          <a:p>
            <a:endParaRPr lang="en-US"/>
          </a:p>
        </p:txBody>
      </p:sp>
      <p:sp>
        <p:nvSpPr>
          <p:cNvPr id="18" name="Text 16"/>
          <p:cNvSpPr/>
          <p:nvPr/>
        </p:nvSpPr>
        <p:spPr>
          <a:xfrm>
            <a:off x="457200" y="3090672"/>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Overdue</a:t>
            </a:r>
            <a:endParaRPr lang="en-US" sz="800" dirty="0"/>
          </a:p>
        </p:txBody>
      </p:sp>
      <p:sp>
        <p:nvSpPr>
          <p:cNvPr id="19" name="Text 17"/>
          <p:cNvSpPr/>
          <p:nvPr/>
        </p:nvSpPr>
        <p:spPr>
          <a:xfrm>
            <a:off x="1600200" y="3054096"/>
            <a:ext cx="5029200" cy="320040"/>
          </a:xfrm>
          <a:prstGeom prst="rect">
            <a:avLst/>
          </a:prstGeom>
          <a:noFill/>
          <a:ln/>
        </p:spPr>
        <p:txBody>
          <a:bodyPr wrap="square" rtlCol="0" anchor="ctr"/>
          <a:lstStyle/>
          <a:p>
            <a:pPr marL="0" indent="0">
              <a:buNone/>
            </a:pPr>
            <a:r>
              <a:rPr lang="en-US" sz="1300" b="1" dirty="0">
                <a:solidFill>
                  <a:srgbClr val="192546"/>
                </a:solidFill>
                <a:latin typeface="Calibri" pitchFamily="34" charset="0"/>
                <a:ea typeface="Calibri" pitchFamily="34" charset="-122"/>
                <a:cs typeface="Calibri" pitchFamily="34" charset="-120"/>
              </a:rPr>
              <a:t>Badge Gamification (IPM Member Badge)</a:t>
            </a:r>
            <a:endParaRPr lang="en-US" sz="1300" dirty="0"/>
          </a:p>
        </p:txBody>
      </p:sp>
      <p:sp>
        <p:nvSpPr>
          <p:cNvPr id="20" name="Text 18"/>
          <p:cNvSpPr/>
          <p:nvPr/>
        </p:nvSpPr>
        <p:spPr>
          <a:xfrm>
            <a:off x="6949440" y="3054096"/>
            <a:ext cx="1737360" cy="274320"/>
          </a:xfrm>
          <a:prstGeom prst="rect">
            <a:avLst/>
          </a:prstGeom>
          <a:noFill/>
          <a:ln/>
        </p:spPr>
        <p:txBody>
          <a:bodyPr wrap="square" rtlCol="0" anchor="ctr"/>
          <a:lstStyle/>
          <a:p>
            <a:pPr marL="0" indent="0" algn="r">
              <a:buNone/>
            </a:pPr>
            <a:r>
              <a:rPr lang="en-US" sz="1000" b="1" dirty="0">
                <a:solidFill>
                  <a:srgbClr val="E74C3C"/>
                </a:solidFill>
                <a:latin typeface="Calibri" pitchFamily="34" charset="0"/>
                <a:ea typeface="Calibri" pitchFamily="34" charset="-122"/>
                <a:cs typeface="Calibri" pitchFamily="34" charset="-120"/>
              </a:rPr>
              <a:t>Due: 3 days ago</a:t>
            </a:r>
            <a:endParaRPr lang="en-US" sz="1000" dirty="0"/>
          </a:p>
        </p:txBody>
      </p:sp>
      <p:sp>
        <p:nvSpPr>
          <p:cNvPr id="21" name="Text 19"/>
          <p:cNvSpPr/>
          <p:nvPr/>
        </p:nvSpPr>
        <p:spPr>
          <a:xfrm>
            <a:off x="1600200" y="3410712"/>
            <a:ext cx="7040880" cy="347472"/>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UI for IPM Member Badge complete. Awaiting GET /ipm/v1/badge-progress backend endpoint — full API spec has been produced. Once live, badge points and profile drawer will be updated.</a:t>
            </a:r>
            <a:endParaRPr lang="en-US" sz="950" dirty="0"/>
          </a:p>
        </p:txBody>
      </p:sp>
      <p:sp>
        <p:nvSpPr>
          <p:cNvPr id="22" name="Shape 20"/>
          <p:cNvSpPr/>
          <p:nvPr/>
        </p:nvSpPr>
        <p:spPr>
          <a:xfrm>
            <a:off x="320040" y="3968496"/>
            <a:ext cx="8503920" cy="868680"/>
          </a:xfrm>
          <a:prstGeom prst="roundRect">
            <a:avLst>
              <a:gd name="adj" fmla="val 8421"/>
            </a:avLst>
          </a:prstGeom>
          <a:solidFill>
            <a:srgbClr val="F4F6FA"/>
          </a:solidFill>
          <a:ln w="12700">
            <a:solidFill>
              <a:srgbClr val="DDE3EF"/>
            </a:solidFill>
            <a:prstDash val="solid"/>
          </a:ln>
          <a:effectLst>
            <a:outerShdw blurRad="50800" dist="12700" dir="2700000" algn="bl" rotWithShape="0">
              <a:srgbClr val="000000">
                <a:alpha val="7000"/>
              </a:srgbClr>
            </a:outerShdw>
          </a:effectLst>
        </p:spPr>
        <p:txBody>
          <a:bodyPr/>
          <a:lstStyle/>
          <a:p>
            <a:endParaRPr lang="en-US"/>
          </a:p>
        </p:txBody>
      </p:sp>
      <p:sp>
        <p:nvSpPr>
          <p:cNvPr id="23" name="Shape 21"/>
          <p:cNvSpPr/>
          <p:nvPr/>
        </p:nvSpPr>
        <p:spPr>
          <a:xfrm>
            <a:off x="457200" y="4078224"/>
            <a:ext cx="1005840" cy="274320"/>
          </a:xfrm>
          <a:prstGeom prst="roundRect">
            <a:avLst>
              <a:gd name="adj" fmla="val 50000"/>
            </a:avLst>
          </a:prstGeom>
          <a:solidFill>
            <a:srgbClr val="E74C3C">
              <a:alpha val="85000"/>
            </a:srgbClr>
          </a:solidFill>
          <a:ln w="12700">
            <a:solidFill>
              <a:srgbClr val="E74C3C">
                <a:alpha val="60000"/>
              </a:srgbClr>
            </a:solidFill>
            <a:prstDash val="solid"/>
          </a:ln>
        </p:spPr>
        <p:txBody>
          <a:bodyPr/>
          <a:lstStyle/>
          <a:p>
            <a:endParaRPr lang="en-US"/>
          </a:p>
        </p:txBody>
      </p:sp>
      <p:sp>
        <p:nvSpPr>
          <p:cNvPr id="24" name="Text 22"/>
          <p:cNvSpPr/>
          <p:nvPr/>
        </p:nvSpPr>
        <p:spPr>
          <a:xfrm>
            <a:off x="457200" y="4078224"/>
            <a:ext cx="1005840"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Overdue</a:t>
            </a:r>
            <a:endParaRPr lang="en-US" sz="800" dirty="0"/>
          </a:p>
        </p:txBody>
      </p:sp>
      <p:sp>
        <p:nvSpPr>
          <p:cNvPr id="25" name="Text 23"/>
          <p:cNvSpPr/>
          <p:nvPr/>
        </p:nvSpPr>
        <p:spPr>
          <a:xfrm>
            <a:off x="1600200" y="4041648"/>
            <a:ext cx="5029200" cy="320040"/>
          </a:xfrm>
          <a:prstGeom prst="rect">
            <a:avLst/>
          </a:prstGeom>
          <a:noFill/>
          <a:ln/>
        </p:spPr>
        <p:txBody>
          <a:bodyPr wrap="square" rtlCol="0" anchor="ctr"/>
          <a:lstStyle/>
          <a:p>
            <a:pPr marL="0" indent="0">
              <a:buNone/>
            </a:pPr>
            <a:r>
              <a:rPr lang="en-US" sz="1300" b="1" dirty="0">
                <a:solidFill>
                  <a:srgbClr val="192546"/>
                </a:solidFill>
                <a:latin typeface="Calibri" pitchFamily="34" charset="0"/>
                <a:ea typeface="Calibri" pitchFamily="34" charset="-122"/>
                <a:cs typeface="Calibri" pitchFamily="34" charset="-120"/>
              </a:rPr>
              <a:t>Full Badges System (Other Badges)</a:t>
            </a:r>
            <a:endParaRPr lang="en-US" sz="1300" dirty="0"/>
          </a:p>
        </p:txBody>
      </p:sp>
      <p:sp>
        <p:nvSpPr>
          <p:cNvPr id="26" name="Text 24"/>
          <p:cNvSpPr/>
          <p:nvPr/>
        </p:nvSpPr>
        <p:spPr>
          <a:xfrm>
            <a:off x="6949440" y="4041648"/>
            <a:ext cx="1737360" cy="274320"/>
          </a:xfrm>
          <a:prstGeom prst="rect">
            <a:avLst/>
          </a:prstGeom>
          <a:noFill/>
          <a:ln/>
        </p:spPr>
        <p:txBody>
          <a:bodyPr wrap="square" rtlCol="0" anchor="ctr"/>
          <a:lstStyle/>
          <a:p>
            <a:pPr marL="0" indent="0" algn="r">
              <a:buNone/>
            </a:pPr>
            <a:r>
              <a:rPr lang="en-US" sz="1000" b="1" dirty="0">
                <a:solidFill>
                  <a:srgbClr val="E74C3C"/>
                </a:solidFill>
                <a:latin typeface="Calibri" pitchFamily="34" charset="0"/>
                <a:ea typeface="Calibri" pitchFamily="34" charset="-122"/>
                <a:cs typeface="Calibri" pitchFamily="34" charset="-120"/>
              </a:rPr>
              <a:t>Due: 3 days ago</a:t>
            </a:r>
            <a:endParaRPr lang="en-US" sz="1000" dirty="0"/>
          </a:p>
        </p:txBody>
      </p:sp>
      <p:sp>
        <p:nvSpPr>
          <p:cNvPr id="27" name="Text 25"/>
          <p:cNvSpPr/>
          <p:nvPr/>
        </p:nvSpPr>
        <p:spPr>
          <a:xfrm>
            <a:off x="1600200" y="4398264"/>
            <a:ext cx="7040880" cy="347472"/>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Phase 2 gamified badge system encompassing all badge types beyond IPM Member Badge. Dependent on badge-progress endpoint and backend badge logic being finalized.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C4D91"/>
          </a:solidFill>
          <a:ln w="12700">
            <a:solidFill>
              <a:srgbClr val="0C4D91"/>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PENDING BACKEND WORK</a:t>
            </a:r>
            <a:endParaRPr lang="en-US" sz="2200" dirty="0"/>
          </a:p>
        </p:txBody>
      </p:sp>
      <p:sp>
        <p:nvSpPr>
          <p:cNvPr id="4" name="Shape 2"/>
          <p:cNvSpPr/>
          <p:nvPr/>
        </p:nvSpPr>
        <p:spPr>
          <a:xfrm>
            <a:off x="320040" y="967154"/>
            <a:ext cx="8503920" cy="713232"/>
          </a:xfrm>
          <a:prstGeom prst="roundRect">
            <a:avLst>
              <a:gd name="adj" fmla="val 10256"/>
            </a:avLst>
          </a:prstGeom>
          <a:solidFill>
            <a:srgbClr val="FFF8F0"/>
          </a:solidFill>
          <a:ln w="12700">
            <a:solidFill>
              <a:srgbClr val="F0D5B8"/>
            </a:solidFill>
            <a:prstDash val="solid"/>
          </a:ln>
        </p:spPr>
        <p:txBody>
          <a:bodyPr/>
          <a:lstStyle/>
          <a:p>
            <a:endParaRPr lang="en-US"/>
          </a:p>
        </p:txBody>
      </p:sp>
      <p:sp>
        <p:nvSpPr>
          <p:cNvPr id="5" name="Shape 3"/>
          <p:cNvSpPr/>
          <p:nvPr/>
        </p:nvSpPr>
        <p:spPr>
          <a:xfrm>
            <a:off x="457200" y="1143000"/>
            <a:ext cx="347472" cy="347472"/>
          </a:xfrm>
          <a:prstGeom prst="ellipse">
            <a:avLst/>
          </a:prstGeom>
          <a:solidFill>
            <a:srgbClr val="F39C12"/>
          </a:solidFill>
          <a:ln w="12700">
            <a:solidFill>
              <a:srgbClr val="F39C12"/>
            </a:solidFill>
            <a:prstDash val="solid"/>
          </a:ln>
        </p:spPr>
        <p:txBody>
          <a:bodyPr/>
          <a:lstStyle/>
          <a:p>
            <a:endParaRPr lang="en-US"/>
          </a:p>
        </p:txBody>
      </p:sp>
      <p:sp>
        <p:nvSpPr>
          <p:cNvPr id="6" name="Text 4"/>
          <p:cNvSpPr/>
          <p:nvPr/>
        </p:nvSpPr>
        <p:spPr>
          <a:xfrm>
            <a:off x="457200" y="11430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960120" y="1024128"/>
            <a:ext cx="7680960" cy="274320"/>
          </a:xfrm>
          <a:prstGeom prst="rect">
            <a:avLst/>
          </a:prstGeom>
          <a:noFill/>
          <a:ln/>
        </p:spPr>
        <p:txBody>
          <a:bodyPr wrap="square" rtlCol="0" anchor="ctr"/>
          <a:lstStyle/>
          <a:p>
            <a:pPr marL="0" indent="0">
              <a:buNone/>
            </a:pPr>
            <a:r>
              <a:rPr lang="en-US" sz="1200" b="1" dirty="0">
                <a:solidFill>
                  <a:srgbClr val="192546"/>
                </a:solidFill>
                <a:latin typeface="Calibri" pitchFamily="34" charset="0"/>
                <a:ea typeface="Calibri" pitchFamily="34" charset="-122"/>
                <a:cs typeface="Calibri" pitchFamily="34" charset="-120"/>
              </a:rPr>
              <a:t>Badge Progress Endpoint</a:t>
            </a:r>
            <a:endParaRPr lang="en-US" sz="1200" dirty="0"/>
          </a:p>
        </p:txBody>
      </p:sp>
      <p:sp>
        <p:nvSpPr>
          <p:cNvPr id="8" name="Text 6"/>
          <p:cNvSpPr/>
          <p:nvPr/>
        </p:nvSpPr>
        <p:spPr>
          <a:xfrm>
            <a:off x="960120" y="1307592"/>
            <a:ext cx="7680960" cy="320040"/>
          </a:xfrm>
          <a:prstGeom prst="rect">
            <a:avLst/>
          </a:prstGeom>
          <a:noFill/>
          <a:ln/>
        </p:spPr>
        <p:txBody>
          <a:bodyPr wrap="square" rtlCol="0" anchor="ctr"/>
          <a:lstStyle/>
          <a:p>
            <a:pPr marL="0" indent="0">
              <a:buNone/>
            </a:pPr>
            <a:r>
              <a:rPr lang="en-US" sz="1000" dirty="0">
                <a:solidFill>
                  <a:srgbClr val="4A4A4A"/>
                </a:solidFill>
                <a:latin typeface="Calibri" pitchFamily="34" charset="0"/>
                <a:ea typeface="Calibri" pitchFamily="34" charset="-122"/>
                <a:cs typeface="Calibri" pitchFamily="34" charset="-120"/>
              </a:rPr>
              <a:t>GET /ipm/v1/badge-progress does not yet exist. Full API specification has been documented and is ready for implementation. Required before Badges screen can display live data.</a:t>
            </a:r>
            <a:endParaRPr lang="en-US" sz="1000" dirty="0"/>
          </a:p>
        </p:txBody>
      </p:sp>
      <p:sp>
        <p:nvSpPr>
          <p:cNvPr id="9" name="Shape 7"/>
          <p:cNvSpPr/>
          <p:nvPr/>
        </p:nvSpPr>
        <p:spPr>
          <a:xfrm>
            <a:off x="320040" y="1764792"/>
            <a:ext cx="8503920" cy="713232"/>
          </a:xfrm>
          <a:prstGeom prst="roundRect">
            <a:avLst>
              <a:gd name="adj" fmla="val 10256"/>
            </a:avLst>
          </a:prstGeom>
          <a:solidFill>
            <a:srgbClr val="FFF8F0"/>
          </a:solidFill>
          <a:ln w="12700">
            <a:solidFill>
              <a:srgbClr val="F0D5B8"/>
            </a:solidFill>
            <a:prstDash val="solid"/>
          </a:ln>
        </p:spPr>
        <p:txBody>
          <a:bodyPr/>
          <a:lstStyle/>
          <a:p>
            <a:endParaRPr lang="en-US"/>
          </a:p>
        </p:txBody>
      </p:sp>
      <p:sp>
        <p:nvSpPr>
          <p:cNvPr id="10" name="Shape 8"/>
          <p:cNvSpPr/>
          <p:nvPr/>
        </p:nvSpPr>
        <p:spPr>
          <a:xfrm>
            <a:off x="457200" y="1947672"/>
            <a:ext cx="347472" cy="347472"/>
          </a:xfrm>
          <a:prstGeom prst="ellipse">
            <a:avLst/>
          </a:prstGeom>
          <a:solidFill>
            <a:srgbClr val="F39C12"/>
          </a:solidFill>
          <a:ln w="12700">
            <a:solidFill>
              <a:srgbClr val="F39C12"/>
            </a:solidFill>
            <a:prstDash val="solid"/>
          </a:ln>
        </p:spPr>
        <p:txBody>
          <a:bodyPr/>
          <a:lstStyle/>
          <a:p>
            <a:endParaRPr lang="en-US"/>
          </a:p>
        </p:txBody>
      </p:sp>
      <p:sp>
        <p:nvSpPr>
          <p:cNvPr id="11" name="Text 9"/>
          <p:cNvSpPr/>
          <p:nvPr/>
        </p:nvSpPr>
        <p:spPr>
          <a:xfrm>
            <a:off x="457200" y="19476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960120" y="1828800"/>
            <a:ext cx="7680960" cy="274320"/>
          </a:xfrm>
          <a:prstGeom prst="rect">
            <a:avLst/>
          </a:prstGeom>
          <a:noFill/>
          <a:ln/>
        </p:spPr>
        <p:txBody>
          <a:bodyPr wrap="square" rtlCol="0" anchor="ctr"/>
          <a:lstStyle/>
          <a:p>
            <a:pPr marL="0" indent="0">
              <a:buNone/>
            </a:pPr>
            <a:r>
              <a:rPr lang="en-US" sz="1200" b="1" dirty="0">
                <a:solidFill>
                  <a:srgbClr val="192546"/>
                </a:solidFill>
                <a:latin typeface="Calibri" pitchFamily="34" charset="0"/>
                <a:ea typeface="Calibri" pitchFamily="34" charset="-122"/>
                <a:cs typeface="Calibri" pitchFamily="34" charset="-120"/>
              </a:rPr>
              <a:t>Google Sign-In OAuth Client</a:t>
            </a:r>
            <a:endParaRPr lang="en-US" sz="1200" dirty="0"/>
          </a:p>
        </p:txBody>
      </p:sp>
      <p:sp>
        <p:nvSpPr>
          <p:cNvPr id="13" name="Text 11"/>
          <p:cNvSpPr/>
          <p:nvPr/>
        </p:nvSpPr>
        <p:spPr>
          <a:xfrm>
            <a:off x="960120" y="2112264"/>
            <a:ext cx="7680960" cy="320040"/>
          </a:xfrm>
          <a:prstGeom prst="rect">
            <a:avLst/>
          </a:prstGeom>
          <a:noFill/>
          <a:ln/>
        </p:spPr>
        <p:txBody>
          <a:bodyPr wrap="square" rtlCol="0" anchor="ctr"/>
          <a:lstStyle/>
          <a:p>
            <a:pPr marL="0" indent="0">
              <a:buNone/>
            </a:pPr>
            <a:r>
              <a:rPr lang="en-US" sz="1000" dirty="0">
                <a:solidFill>
                  <a:srgbClr val="4A4A4A"/>
                </a:solidFill>
                <a:latin typeface="Calibri" pitchFamily="34" charset="0"/>
                <a:ea typeface="Calibri" pitchFamily="34" charset="-122"/>
                <a:cs typeface="Calibri" pitchFamily="34" charset="-120"/>
              </a:rPr>
              <a:t>The Web Application-type OAuth Client ID (webClientId) is still needed. The current Android-type client ID cannot fulfill this role. Once provided, Google Sign-In will be fully operational.</a:t>
            </a:r>
            <a:endParaRPr lang="en-US" sz="1000" dirty="0"/>
          </a:p>
        </p:txBody>
      </p:sp>
      <p:sp>
        <p:nvSpPr>
          <p:cNvPr id="14" name="Shape 12"/>
          <p:cNvSpPr/>
          <p:nvPr/>
        </p:nvSpPr>
        <p:spPr>
          <a:xfrm>
            <a:off x="320040" y="2569464"/>
            <a:ext cx="8503920" cy="713232"/>
          </a:xfrm>
          <a:prstGeom prst="roundRect">
            <a:avLst>
              <a:gd name="adj" fmla="val 10256"/>
            </a:avLst>
          </a:prstGeom>
          <a:solidFill>
            <a:srgbClr val="FFF8F0"/>
          </a:solidFill>
          <a:ln w="12700">
            <a:solidFill>
              <a:srgbClr val="F0D5B8"/>
            </a:solidFill>
            <a:prstDash val="solid"/>
          </a:ln>
        </p:spPr>
        <p:txBody>
          <a:bodyPr/>
          <a:lstStyle/>
          <a:p>
            <a:endParaRPr lang="en-US"/>
          </a:p>
        </p:txBody>
      </p:sp>
      <p:sp>
        <p:nvSpPr>
          <p:cNvPr id="15" name="Shape 13"/>
          <p:cNvSpPr/>
          <p:nvPr/>
        </p:nvSpPr>
        <p:spPr>
          <a:xfrm>
            <a:off x="457200" y="2752344"/>
            <a:ext cx="347472" cy="347472"/>
          </a:xfrm>
          <a:prstGeom prst="ellipse">
            <a:avLst/>
          </a:prstGeom>
          <a:solidFill>
            <a:srgbClr val="F39C12"/>
          </a:solidFill>
          <a:ln w="12700">
            <a:solidFill>
              <a:srgbClr val="F39C12"/>
            </a:solidFill>
            <a:prstDash val="solid"/>
          </a:ln>
        </p:spPr>
        <p:txBody>
          <a:bodyPr/>
          <a:lstStyle/>
          <a:p>
            <a:endParaRPr lang="en-US"/>
          </a:p>
        </p:txBody>
      </p:sp>
      <p:sp>
        <p:nvSpPr>
          <p:cNvPr id="16" name="Text 14"/>
          <p:cNvSpPr/>
          <p:nvPr/>
        </p:nvSpPr>
        <p:spPr>
          <a:xfrm>
            <a:off x="457200" y="27523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960120" y="2633472"/>
            <a:ext cx="7680960" cy="274320"/>
          </a:xfrm>
          <a:prstGeom prst="rect">
            <a:avLst/>
          </a:prstGeom>
          <a:noFill/>
          <a:ln/>
        </p:spPr>
        <p:txBody>
          <a:bodyPr wrap="square" rtlCol="0" anchor="ctr"/>
          <a:lstStyle/>
          <a:p>
            <a:pPr marL="0" indent="0">
              <a:buNone/>
            </a:pPr>
            <a:r>
              <a:rPr lang="en-US" sz="1200" b="1" dirty="0">
                <a:solidFill>
                  <a:srgbClr val="192546"/>
                </a:solidFill>
                <a:latin typeface="Calibri" pitchFamily="34" charset="0"/>
                <a:ea typeface="Calibri" pitchFamily="34" charset="-122"/>
                <a:cs typeface="Calibri" pitchFamily="34" charset="-120"/>
              </a:rPr>
              <a:t>LinkedIn Sign-In Backend</a:t>
            </a:r>
            <a:endParaRPr lang="en-US" sz="1200" dirty="0"/>
          </a:p>
        </p:txBody>
      </p:sp>
      <p:sp>
        <p:nvSpPr>
          <p:cNvPr id="18" name="Text 16"/>
          <p:cNvSpPr/>
          <p:nvPr/>
        </p:nvSpPr>
        <p:spPr>
          <a:xfrm>
            <a:off x="960120" y="2916936"/>
            <a:ext cx="7680960" cy="320040"/>
          </a:xfrm>
          <a:prstGeom prst="rect">
            <a:avLst/>
          </a:prstGeom>
          <a:noFill/>
          <a:ln/>
        </p:spPr>
        <p:txBody>
          <a:bodyPr wrap="square" rtlCol="0" anchor="ctr"/>
          <a:lstStyle/>
          <a:p>
            <a:pPr marL="0" indent="0">
              <a:buNone/>
            </a:pPr>
            <a:r>
              <a:rPr lang="en-US" sz="1000" dirty="0">
                <a:solidFill>
                  <a:srgbClr val="4A4A4A"/>
                </a:solidFill>
                <a:latin typeface="Calibri" pitchFamily="34" charset="0"/>
                <a:ea typeface="Calibri" pitchFamily="34" charset="-122"/>
                <a:cs typeface="Calibri" pitchFamily="34" charset="-120"/>
              </a:rPr>
              <a:t>POST /ipm/v1/linkedin-token endpoint has not yet been built. The frontend LinkedIn WebView OAuth modal is ready and waiting for this backend piece.</a:t>
            </a:r>
            <a:endParaRPr lang="en-US" sz="1000" dirty="0"/>
          </a:p>
        </p:txBody>
      </p:sp>
      <p:sp>
        <p:nvSpPr>
          <p:cNvPr id="19" name="Shape 17"/>
          <p:cNvSpPr/>
          <p:nvPr/>
        </p:nvSpPr>
        <p:spPr>
          <a:xfrm>
            <a:off x="320040" y="3374136"/>
            <a:ext cx="8503920" cy="713232"/>
          </a:xfrm>
          <a:prstGeom prst="roundRect">
            <a:avLst>
              <a:gd name="adj" fmla="val 10256"/>
            </a:avLst>
          </a:prstGeom>
          <a:solidFill>
            <a:srgbClr val="FFF8F0"/>
          </a:solidFill>
          <a:ln w="12700">
            <a:solidFill>
              <a:srgbClr val="F0D5B8"/>
            </a:solidFill>
            <a:prstDash val="solid"/>
          </a:ln>
        </p:spPr>
        <p:txBody>
          <a:bodyPr/>
          <a:lstStyle/>
          <a:p>
            <a:endParaRPr lang="en-US"/>
          </a:p>
        </p:txBody>
      </p:sp>
      <p:sp>
        <p:nvSpPr>
          <p:cNvPr id="20" name="Shape 18"/>
          <p:cNvSpPr/>
          <p:nvPr/>
        </p:nvSpPr>
        <p:spPr>
          <a:xfrm>
            <a:off x="457200" y="3557016"/>
            <a:ext cx="347472" cy="347472"/>
          </a:xfrm>
          <a:prstGeom prst="ellipse">
            <a:avLst/>
          </a:prstGeom>
          <a:solidFill>
            <a:srgbClr val="F39C12"/>
          </a:solidFill>
          <a:ln w="12700">
            <a:solidFill>
              <a:srgbClr val="F39C12"/>
            </a:solidFill>
            <a:prstDash val="solid"/>
          </a:ln>
        </p:spPr>
        <p:txBody>
          <a:bodyPr/>
          <a:lstStyle/>
          <a:p>
            <a:endParaRPr lang="en-US"/>
          </a:p>
        </p:txBody>
      </p:sp>
      <p:sp>
        <p:nvSpPr>
          <p:cNvPr id="21" name="Text 19"/>
          <p:cNvSpPr/>
          <p:nvPr/>
        </p:nvSpPr>
        <p:spPr>
          <a:xfrm>
            <a:off x="457200" y="35570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960120" y="3438144"/>
            <a:ext cx="7680960" cy="274320"/>
          </a:xfrm>
          <a:prstGeom prst="rect">
            <a:avLst/>
          </a:prstGeom>
          <a:noFill/>
          <a:ln/>
        </p:spPr>
        <p:txBody>
          <a:bodyPr wrap="square" rtlCol="0" anchor="ctr"/>
          <a:lstStyle/>
          <a:p>
            <a:pPr marL="0" indent="0">
              <a:buNone/>
            </a:pPr>
            <a:r>
              <a:rPr lang="en-US" sz="1200" b="1" dirty="0">
                <a:solidFill>
                  <a:srgbClr val="192546"/>
                </a:solidFill>
                <a:latin typeface="Calibri" pitchFamily="34" charset="0"/>
                <a:ea typeface="Calibri" pitchFamily="34" charset="-122"/>
                <a:cs typeface="Calibri" pitchFamily="34" charset="-120"/>
              </a:rPr>
              <a:t>Store Product Data (ACF Fields)</a:t>
            </a:r>
            <a:endParaRPr lang="en-US" sz="1200" dirty="0"/>
          </a:p>
        </p:txBody>
      </p:sp>
      <p:sp>
        <p:nvSpPr>
          <p:cNvPr id="23" name="Text 21"/>
          <p:cNvSpPr/>
          <p:nvPr/>
        </p:nvSpPr>
        <p:spPr>
          <a:xfrm>
            <a:off x="960120" y="3721608"/>
            <a:ext cx="7680960" cy="320040"/>
          </a:xfrm>
          <a:prstGeom prst="rect">
            <a:avLst/>
          </a:prstGeom>
          <a:noFill/>
          <a:ln/>
        </p:spPr>
        <p:txBody>
          <a:bodyPr wrap="square" rtlCol="0" anchor="ctr"/>
          <a:lstStyle/>
          <a:p>
            <a:pPr marL="0" indent="0">
              <a:buNone/>
            </a:pPr>
            <a:r>
              <a:rPr lang="en-US" sz="1000" dirty="0">
                <a:solidFill>
                  <a:srgbClr val="4A4A4A"/>
                </a:solidFill>
                <a:latin typeface="Calibri" pitchFamily="34" charset="0"/>
                <a:ea typeface="Calibri" pitchFamily="34" charset="-122"/>
                <a:cs typeface="Calibri" pitchFamily="34" charset="-120"/>
              </a:rPr>
              <a:t>Real product pricing, descriptions, and metadata are likely in Advanced Custom Fields not currently exposed by REST endpoints. Custom endpoints or ACF exposure needed for the Store to display live data.</a:t>
            </a:r>
            <a:endParaRPr lang="en-US" sz="1000" dirty="0"/>
          </a:p>
        </p:txBody>
      </p:sp>
      <p:sp>
        <p:nvSpPr>
          <p:cNvPr id="24" name="Shape 22"/>
          <p:cNvSpPr/>
          <p:nvPr/>
        </p:nvSpPr>
        <p:spPr>
          <a:xfrm>
            <a:off x="320040" y="4178808"/>
            <a:ext cx="8503920" cy="713232"/>
          </a:xfrm>
          <a:prstGeom prst="roundRect">
            <a:avLst>
              <a:gd name="adj" fmla="val 10256"/>
            </a:avLst>
          </a:prstGeom>
          <a:solidFill>
            <a:srgbClr val="FFF8F0"/>
          </a:solidFill>
          <a:ln w="12700">
            <a:solidFill>
              <a:srgbClr val="F0D5B8"/>
            </a:solidFill>
            <a:prstDash val="solid"/>
          </a:ln>
        </p:spPr>
        <p:txBody>
          <a:bodyPr/>
          <a:lstStyle/>
          <a:p>
            <a:endParaRPr lang="en-US"/>
          </a:p>
        </p:txBody>
      </p:sp>
      <p:sp>
        <p:nvSpPr>
          <p:cNvPr id="25" name="Shape 23"/>
          <p:cNvSpPr/>
          <p:nvPr/>
        </p:nvSpPr>
        <p:spPr>
          <a:xfrm>
            <a:off x="457200" y="4361688"/>
            <a:ext cx="347472" cy="347472"/>
          </a:xfrm>
          <a:prstGeom prst="ellipse">
            <a:avLst/>
          </a:prstGeom>
          <a:solidFill>
            <a:srgbClr val="F39C12"/>
          </a:solidFill>
          <a:ln w="12700">
            <a:solidFill>
              <a:srgbClr val="F39C12"/>
            </a:solidFill>
            <a:prstDash val="solid"/>
          </a:ln>
        </p:spPr>
        <p:txBody>
          <a:bodyPr/>
          <a:lstStyle/>
          <a:p>
            <a:endParaRPr lang="en-US"/>
          </a:p>
        </p:txBody>
      </p:sp>
      <p:sp>
        <p:nvSpPr>
          <p:cNvPr id="26" name="Text 24"/>
          <p:cNvSpPr/>
          <p:nvPr/>
        </p:nvSpPr>
        <p:spPr>
          <a:xfrm>
            <a:off x="457200" y="43616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960120" y="4242816"/>
            <a:ext cx="7680960" cy="274320"/>
          </a:xfrm>
          <a:prstGeom prst="rect">
            <a:avLst/>
          </a:prstGeom>
          <a:noFill/>
          <a:ln/>
        </p:spPr>
        <p:txBody>
          <a:bodyPr wrap="square" rtlCol="0" anchor="ctr"/>
          <a:lstStyle/>
          <a:p>
            <a:pPr marL="0" indent="0">
              <a:buNone/>
            </a:pPr>
            <a:r>
              <a:rPr lang="en-US" sz="1200" b="1" dirty="0">
                <a:solidFill>
                  <a:srgbClr val="192546"/>
                </a:solidFill>
                <a:latin typeface="Calibri" pitchFamily="34" charset="0"/>
                <a:ea typeface="Calibri" pitchFamily="34" charset="-122"/>
                <a:cs typeface="Calibri" pitchFamily="34" charset="-120"/>
              </a:rPr>
              <a:t>LearnDash REST Permissions</a:t>
            </a:r>
            <a:endParaRPr lang="en-US" sz="1200" dirty="0"/>
          </a:p>
        </p:txBody>
      </p:sp>
      <p:sp>
        <p:nvSpPr>
          <p:cNvPr id="28" name="Text 26"/>
          <p:cNvSpPr/>
          <p:nvPr/>
        </p:nvSpPr>
        <p:spPr>
          <a:xfrm>
            <a:off x="960120" y="4526280"/>
            <a:ext cx="7680960" cy="320040"/>
          </a:xfrm>
          <a:prstGeom prst="rect">
            <a:avLst/>
          </a:prstGeom>
          <a:noFill/>
          <a:ln/>
        </p:spPr>
        <p:txBody>
          <a:bodyPr wrap="square" rtlCol="0" anchor="ctr"/>
          <a:lstStyle/>
          <a:p>
            <a:pPr marL="0" indent="0">
              <a:buNone/>
            </a:pPr>
            <a:r>
              <a:rPr lang="en-US" sz="1000" dirty="0">
                <a:solidFill>
                  <a:srgbClr val="4A4A4A"/>
                </a:solidFill>
                <a:latin typeface="Calibri" pitchFamily="34" charset="0"/>
                <a:ea typeface="Calibri" pitchFamily="34" charset="-122"/>
                <a:cs typeface="Calibri" pitchFamily="34" charset="-120"/>
              </a:rPr>
              <a:t>/ldlms/v1/sfwd-courses returns 401 learndash_rest_forbidden. Permissions need to be resolved on the backend to enable the Courses module to pull live data.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92546"/>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WHAT'S AHEAD</a:t>
            </a:r>
            <a:endParaRPr lang="en-US" sz="2200" dirty="0"/>
          </a:p>
        </p:txBody>
      </p:sp>
      <p:sp>
        <p:nvSpPr>
          <p:cNvPr id="3" name="Shape 1"/>
          <p:cNvSpPr/>
          <p:nvPr/>
        </p:nvSpPr>
        <p:spPr>
          <a:xfrm>
            <a:off x="457200" y="804672"/>
            <a:ext cx="8229600" cy="36576"/>
          </a:xfrm>
          <a:prstGeom prst="rect">
            <a:avLst/>
          </a:prstGeom>
          <a:solidFill>
            <a:srgbClr val="46B0E3"/>
          </a:solidFill>
          <a:ln w="12700">
            <a:solidFill>
              <a:srgbClr val="46B0E3"/>
            </a:solidFill>
            <a:prstDash val="solid"/>
          </a:ln>
        </p:spPr>
        <p:txBody>
          <a:bodyPr/>
          <a:lstStyle/>
          <a:p>
            <a:endParaRPr lang="en-US"/>
          </a:p>
        </p:txBody>
      </p:sp>
      <p:sp>
        <p:nvSpPr>
          <p:cNvPr id="4" name="Shape 2"/>
          <p:cNvSpPr/>
          <p:nvPr/>
        </p:nvSpPr>
        <p:spPr>
          <a:xfrm>
            <a:off x="457200" y="960120"/>
            <a:ext cx="4069080" cy="3977640"/>
          </a:xfrm>
          <a:prstGeom prst="roundRect">
            <a:avLst>
              <a:gd name="adj" fmla="val 2759"/>
            </a:avLst>
          </a:prstGeom>
          <a:solidFill>
            <a:srgbClr val="0C4D91">
              <a:alpha val="70000"/>
            </a:srgbClr>
          </a:solidFill>
          <a:ln w="12700">
            <a:solidFill>
              <a:srgbClr val="46B0E3">
                <a:alpha val="60000"/>
              </a:srgbClr>
            </a:solidFill>
            <a:prstDash val="solid"/>
          </a:ln>
        </p:spPr>
        <p:txBody>
          <a:bodyPr/>
          <a:lstStyle/>
          <a:p>
            <a:endParaRPr lang="en-US"/>
          </a:p>
        </p:txBody>
      </p:sp>
      <p:sp>
        <p:nvSpPr>
          <p:cNvPr id="5" name="Text 3"/>
          <p:cNvSpPr/>
          <p:nvPr/>
        </p:nvSpPr>
        <p:spPr>
          <a:xfrm>
            <a:off x="640080" y="1051560"/>
            <a:ext cx="3703320" cy="411480"/>
          </a:xfrm>
          <a:prstGeom prst="rect">
            <a:avLst/>
          </a:prstGeom>
          <a:noFill/>
          <a:ln/>
        </p:spPr>
        <p:txBody>
          <a:bodyPr wrap="square" rtlCol="0" anchor="ctr"/>
          <a:lstStyle/>
          <a:p>
            <a:pPr marL="0" indent="0">
              <a:buNone/>
            </a:pPr>
            <a:r>
              <a:rPr lang="en-US" sz="1500" b="1" dirty="0">
                <a:solidFill>
                  <a:srgbClr val="46B0E3"/>
                </a:solidFill>
                <a:latin typeface="Cambria" pitchFamily="34" charset="0"/>
                <a:ea typeface="Cambria" pitchFamily="34" charset="-122"/>
                <a:cs typeface="Cambria" pitchFamily="34" charset="-120"/>
              </a:rPr>
              <a:t>Near-Term</a:t>
            </a:r>
            <a:endParaRPr lang="en-US" sz="1500" dirty="0"/>
          </a:p>
        </p:txBody>
      </p:sp>
      <p:sp>
        <p:nvSpPr>
          <p:cNvPr id="6" name="Shape 4"/>
          <p:cNvSpPr/>
          <p:nvPr/>
        </p:nvSpPr>
        <p:spPr>
          <a:xfrm>
            <a:off x="640080" y="1444752"/>
            <a:ext cx="3657600" cy="27432"/>
          </a:xfrm>
          <a:prstGeom prst="rect">
            <a:avLst/>
          </a:prstGeom>
          <a:solidFill>
            <a:srgbClr val="46B0E3">
              <a:alpha val="50000"/>
            </a:srgbClr>
          </a:solidFill>
          <a:ln w="12700">
            <a:solidFill>
              <a:srgbClr val="46B0E3">
                <a:alpha val="50000"/>
              </a:srgbClr>
            </a:solidFill>
            <a:prstDash val="solid"/>
          </a:ln>
        </p:spPr>
        <p:txBody>
          <a:bodyPr/>
          <a:lstStyle/>
          <a:p>
            <a:endParaRPr lang="en-US"/>
          </a:p>
        </p:txBody>
      </p:sp>
      <p:sp>
        <p:nvSpPr>
          <p:cNvPr id="7" name="Text 5"/>
          <p:cNvSpPr/>
          <p:nvPr/>
        </p:nvSpPr>
        <p:spPr>
          <a:xfrm>
            <a:off x="640080" y="1536192"/>
            <a:ext cx="3703320" cy="3291840"/>
          </a:xfrm>
          <a:prstGeom prst="rect">
            <a:avLst/>
          </a:prstGeom>
          <a:noFill/>
          <a:ln/>
        </p:spPr>
        <p:txBody>
          <a:bodyPr wrap="square" rtlCol="0" anchor="ctr"/>
          <a:lstStyle/>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Wire Badges screen to live badge-progress endpoint once built</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Profile drawer badge point update</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Forum Topic Detail view (not yet built)</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Notifications screen</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iOS build strategy (via backend colleague's Mac, EAS Build, or GitHub Actions macOS runners)</a:t>
            </a:r>
            <a:endParaRPr lang="en-US" sz="1100" dirty="0"/>
          </a:p>
        </p:txBody>
      </p:sp>
      <p:sp>
        <p:nvSpPr>
          <p:cNvPr id="8" name="Shape 6"/>
          <p:cNvSpPr/>
          <p:nvPr/>
        </p:nvSpPr>
        <p:spPr>
          <a:xfrm>
            <a:off x="4800600" y="960120"/>
            <a:ext cx="4069080" cy="3977640"/>
          </a:xfrm>
          <a:prstGeom prst="roundRect">
            <a:avLst>
              <a:gd name="adj" fmla="val 2759"/>
            </a:avLst>
          </a:prstGeom>
          <a:solidFill>
            <a:srgbClr val="0C4D91">
              <a:alpha val="70000"/>
            </a:srgbClr>
          </a:solidFill>
          <a:ln w="12700">
            <a:solidFill>
              <a:srgbClr val="F4D03F">
                <a:alpha val="60000"/>
              </a:srgbClr>
            </a:solidFill>
            <a:prstDash val="solid"/>
          </a:ln>
        </p:spPr>
        <p:txBody>
          <a:bodyPr/>
          <a:lstStyle/>
          <a:p>
            <a:endParaRPr lang="en-US"/>
          </a:p>
        </p:txBody>
      </p:sp>
      <p:sp>
        <p:nvSpPr>
          <p:cNvPr id="9" name="Text 7"/>
          <p:cNvSpPr/>
          <p:nvPr/>
        </p:nvSpPr>
        <p:spPr>
          <a:xfrm>
            <a:off x="4983480" y="1051560"/>
            <a:ext cx="3703320" cy="411480"/>
          </a:xfrm>
          <a:prstGeom prst="rect">
            <a:avLst/>
          </a:prstGeom>
          <a:noFill/>
          <a:ln/>
        </p:spPr>
        <p:txBody>
          <a:bodyPr wrap="square" rtlCol="0" anchor="ctr"/>
          <a:lstStyle/>
          <a:p>
            <a:pPr marL="0" indent="0">
              <a:buNone/>
            </a:pPr>
            <a:r>
              <a:rPr lang="en-US" sz="1500" b="1" dirty="0">
                <a:solidFill>
                  <a:srgbClr val="F4D03F"/>
                </a:solidFill>
                <a:latin typeface="Cambria" pitchFamily="34" charset="0"/>
                <a:ea typeface="Cambria" pitchFamily="34" charset="-122"/>
                <a:cs typeface="Cambria" pitchFamily="34" charset="-120"/>
              </a:rPr>
              <a:t>Phase 2</a:t>
            </a:r>
            <a:endParaRPr lang="en-US" sz="1500" dirty="0"/>
          </a:p>
        </p:txBody>
      </p:sp>
      <p:sp>
        <p:nvSpPr>
          <p:cNvPr id="10" name="Shape 8"/>
          <p:cNvSpPr/>
          <p:nvPr/>
        </p:nvSpPr>
        <p:spPr>
          <a:xfrm>
            <a:off x="4983480" y="1444752"/>
            <a:ext cx="3657600" cy="27432"/>
          </a:xfrm>
          <a:prstGeom prst="rect">
            <a:avLst/>
          </a:prstGeom>
          <a:solidFill>
            <a:srgbClr val="F4D03F">
              <a:alpha val="50000"/>
            </a:srgbClr>
          </a:solidFill>
          <a:ln w="12700">
            <a:solidFill>
              <a:srgbClr val="F4D03F">
                <a:alpha val="50000"/>
              </a:srgbClr>
            </a:solidFill>
            <a:prstDash val="solid"/>
          </a:ln>
        </p:spPr>
        <p:txBody>
          <a:bodyPr/>
          <a:lstStyle/>
          <a:p>
            <a:endParaRPr lang="en-US"/>
          </a:p>
        </p:txBody>
      </p:sp>
      <p:sp>
        <p:nvSpPr>
          <p:cNvPr id="11" name="Text 9"/>
          <p:cNvSpPr/>
          <p:nvPr/>
        </p:nvSpPr>
        <p:spPr>
          <a:xfrm>
            <a:off x="4983480" y="1536192"/>
            <a:ext cx="3703320" cy="3291840"/>
          </a:xfrm>
          <a:prstGeom prst="rect">
            <a:avLst/>
          </a:prstGeom>
          <a:noFill/>
          <a:ln/>
        </p:spPr>
        <p:txBody>
          <a:bodyPr wrap="square" rtlCol="0" anchor="ctr"/>
          <a:lstStyle/>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PDU Tracker</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Checkout &amp; Payment flow</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Full Badges System — all badge types beyond IPM Member</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Apple Developer Program enrollment ($99/yr) for device testing</a:t>
            </a:r>
            <a:endParaRPr lang="en-US" sz="1100" dirty="0"/>
          </a:p>
          <a:p>
            <a:pPr marL="342900" indent="-342900">
              <a:spcAft>
                <a:spcPts val="800"/>
              </a:spcAft>
              <a:buSzPct val="100000"/>
              <a:buChar char="•"/>
            </a:pPr>
            <a:r>
              <a:rPr lang="en-US" sz="1100" dirty="0">
                <a:solidFill>
                  <a:srgbClr val="C8D8EE"/>
                </a:solidFill>
                <a:latin typeface="Calibri" pitchFamily="34" charset="0"/>
                <a:ea typeface="Calibri" pitchFamily="34" charset="-122"/>
                <a:cs typeface="Calibri" pitchFamily="34" charset="-120"/>
              </a:rPr>
              <a:t>Production release preparation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92546"/>
        </a:solidFill>
        <a:effectLst/>
      </p:bgPr>
    </p:bg>
    <p:spTree>
      <p:nvGrpSpPr>
        <p:cNvPr id="1" name=""/>
        <p:cNvGrpSpPr/>
        <p:nvPr/>
      </p:nvGrpSpPr>
      <p:grpSpPr>
        <a:xfrm>
          <a:off x="0" y="0"/>
          <a:ext cx="0" cy="0"/>
          <a:chOff x="0" y="0"/>
          <a:chExt cx="0" cy="0"/>
        </a:xfrm>
      </p:grpSpPr>
      <p:sp>
        <p:nvSpPr>
          <p:cNvPr id="2" name="Shape 0"/>
          <p:cNvSpPr/>
          <p:nvPr/>
        </p:nvSpPr>
        <p:spPr>
          <a:xfrm>
            <a:off x="6858000" y="-731520"/>
            <a:ext cx="3657600" cy="3657600"/>
          </a:xfrm>
          <a:prstGeom prst="ellipse">
            <a:avLst/>
          </a:prstGeom>
          <a:solidFill>
            <a:srgbClr val="0C4D91">
              <a:alpha val="45000"/>
            </a:srgbClr>
          </a:solidFill>
          <a:ln w="12700">
            <a:solidFill>
              <a:srgbClr val="0C4D91">
                <a:alpha val="45000"/>
              </a:srgbClr>
            </a:solidFill>
            <a:prstDash val="solid"/>
          </a:ln>
        </p:spPr>
        <p:txBody>
          <a:bodyPr/>
          <a:lstStyle/>
          <a:p>
            <a:endParaRPr lang="en-US"/>
          </a:p>
        </p:txBody>
      </p:sp>
      <p:sp>
        <p:nvSpPr>
          <p:cNvPr id="3" name="Shape 1"/>
          <p:cNvSpPr/>
          <p:nvPr/>
        </p:nvSpPr>
        <p:spPr>
          <a:xfrm>
            <a:off x="-914400" y="2926080"/>
            <a:ext cx="3200400" cy="3200400"/>
          </a:xfrm>
          <a:prstGeom prst="ellipse">
            <a:avLst/>
          </a:prstGeom>
          <a:solidFill>
            <a:srgbClr val="46B0E3">
              <a:alpha val="20000"/>
            </a:srgbClr>
          </a:solidFill>
          <a:ln w="12700">
            <a:solidFill>
              <a:srgbClr val="46B0E3">
                <a:alpha val="20000"/>
              </a:srgbClr>
            </a:solidFill>
            <a:prstDash val="solid"/>
          </a:ln>
        </p:spPr>
        <p:txBody>
          <a:bodyPr/>
          <a:lstStyle/>
          <a:p>
            <a:endParaRPr lang="en-US"/>
          </a:p>
        </p:txBody>
      </p:sp>
      <p:sp>
        <p:nvSpPr>
          <p:cNvPr id="4" name="Text 2"/>
          <p:cNvSpPr/>
          <p:nvPr/>
        </p:nvSpPr>
        <p:spPr>
          <a:xfrm>
            <a:off x="731520" y="731520"/>
            <a:ext cx="7680960" cy="1828800"/>
          </a:xfrm>
          <a:prstGeom prst="rect">
            <a:avLst/>
          </a:prstGeom>
          <a:noFill/>
          <a:ln/>
        </p:spPr>
        <p:txBody>
          <a:bodyPr wrap="square"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Building Something</a:t>
            </a:r>
            <a:endParaRPr lang="en-US" sz="3800" dirty="0"/>
          </a:p>
          <a:p>
            <a:pPr marL="0" indent="0" algn="ctr">
              <a:buNone/>
            </a:pPr>
            <a:r>
              <a:rPr lang="en-US" sz="3800" b="1" dirty="0">
                <a:solidFill>
                  <a:srgbClr val="FFFFFF"/>
                </a:solidFill>
                <a:latin typeface="Cambria" pitchFamily="34" charset="0"/>
                <a:ea typeface="Cambria" pitchFamily="34" charset="-122"/>
                <a:cs typeface="Cambria" pitchFamily="34" charset="-120"/>
              </a:rPr>
              <a:t>Meaningful</a:t>
            </a:r>
            <a:endParaRPr lang="en-US" sz="3800" dirty="0"/>
          </a:p>
        </p:txBody>
      </p:sp>
      <p:sp>
        <p:nvSpPr>
          <p:cNvPr id="5" name="Text 3"/>
          <p:cNvSpPr/>
          <p:nvPr/>
        </p:nvSpPr>
        <p:spPr>
          <a:xfrm>
            <a:off x="914400" y="2606040"/>
            <a:ext cx="7315200" cy="1005840"/>
          </a:xfrm>
          <a:prstGeom prst="rect">
            <a:avLst/>
          </a:prstGeom>
          <a:noFill/>
          <a:ln/>
        </p:spPr>
        <p:txBody>
          <a:bodyPr wrap="square" rtlCol="0" anchor="ctr"/>
          <a:lstStyle/>
          <a:p>
            <a:pPr marL="0" indent="0" algn="ctr">
              <a:buNone/>
            </a:pPr>
            <a:r>
              <a:rPr lang="en-US" sz="1300" i="1" dirty="0">
                <a:solidFill>
                  <a:srgbClr val="46B0E3"/>
                </a:solidFill>
                <a:latin typeface="Calibri" pitchFamily="34" charset="0"/>
                <a:ea typeface="Calibri" pitchFamily="34" charset="-122"/>
                <a:cs typeface="Calibri" pitchFamily="34" charset="-120"/>
              </a:rPr>
              <a:t>The IPM Hub Mobile App brings together community, learning, events, and professional growth — all in one native experience for project management professionals.</a:t>
            </a:r>
            <a:endParaRPr lang="en-US" sz="1300" dirty="0"/>
          </a:p>
        </p:txBody>
      </p:sp>
      <p:sp>
        <p:nvSpPr>
          <p:cNvPr id="6" name="Shape 4"/>
          <p:cNvSpPr/>
          <p:nvPr/>
        </p:nvSpPr>
        <p:spPr>
          <a:xfrm>
            <a:off x="3200400" y="3703320"/>
            <a:ext cx="2743200" cy="36576"/>
          </a:xfrm>
          <a:prstGeom prst="rect">
            <a:avLst/>
          </a:prstGeom>
          <a:solidFill>
            <a:srgbClr val="46B0E3"/>
          </a:solidFill>
          <a:ln w="12700">
            <a:solidFill>
              <a:srgbClr val="46B0E3"/>
            </a:solidFill>
            <a:prstDash val="solid"/>
          </a:ln>
        </p:spPr>
        <p:txBody>
          <a:bodyPr/>
          <a:lstStyle/>
          <a:p>
            <a:endParaRPr lang="en-US"/>
          </a:p>
        </p:txBody>
      </p:sp>
      <p:sp>
        <p:nvSpPr>
          <p:cNvPr id="7" name="Text 5"/>
          <p:cNvSpPr/>
          <p:nvPr/>
        </p:nvSpPr>
        <p:spPr>
          <a:xfrm>
            <a:off x="914400" y="3840480"/>
            <a:ext cx="7315200" cy="365760"/>
          </a:xfrm>
          <a:prstGeom prst="rect">
            <a:avLst/>
          </a:prstGeom>
          <a:noFill/>
          <a:ln/>
        </p:spPr>
        <p:txBody>
          <a:bodyPr wrap="square" rtlCol="0" anchor="ctr"/>
          <a:lstStyle/>
          <a:p>
            <a:pPr marL="0" indent="0" algn="ctr">
              <a:buNone/>
            </a:pPr>
            <a:r>
              <a:rPr lang="en-US" sz="1100" dirty="0">
                <a:solidFill>
                  <a:srgbClr val="8898AA"/>
                </a:solidFill>
                <a:latin typeface="Calibri" pitchFamily="34" charset="0"/>
                <a:ea typeface="Calibri" pitchFamily="34" charset="-122"/>
                <a:cs typeface="Calibri" pitchFamily="34" charset="-120"/>
              </a:rPr>
              <a:t>hub.instituteprojectmanagement.com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909</Words>
  <Application>Microsoft Office PowerPoint</Application>
  <PresentationFormat>On-screen Show (16:9)</PresentationFormat>
  <Paragraphs>139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IPM Hub Mobile App — Project Status</dc:title>
  <dc:subject>PptxGenJS Presentation</dc:subject>
  <dc:creator>PptxGenJS</dc:creator>
  <cp:lastModifiedBy>Marium Aamer</cp:lastModifiedBy>
  <cp:revision>2</cp:revision>
  <dcterms:created xsi:type="dcterms:W3CDTF">2026-06-29T06:10:01Z</dcterms:created>
  <dcterms:modified xsi:type="dcterms:W3CDTF">2026-06-29T08:01:46Z</dcterms:modified>
</cp:coreProperties>
</file>