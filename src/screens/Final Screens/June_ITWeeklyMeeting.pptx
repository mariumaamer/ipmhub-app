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summarises the full development progress of the IPM Hub mobile app for the IT team. Mention platform: React Native, iOS + Android cross-platform.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dual-layer architecture: the app calls existing WP REST + BuddyBoss endpoints and custom ipm/v1 endpoints written in the mu-plugin.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maps to a feature module. Auth, social, learning, events, DMs, store, and badges are all complete as Phase 1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complexity of the auth layer — multiple sign-in paths, plugin-based password reset, and Hermes engine constraints all required custom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all 73 tags use real WordPress term IDs — no fabricated filter data. Author enrichment is a significant engineering effort pulling from multiple BuddyBoss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major product verticals all built and integrated. Store awaits ACF data exposure from backend for real pricing/descriptions.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 feature required significant API debugging — BuddyBoss documentation was inaccurate for reply flows. Profile tabs connect to 5 separate endpoint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Badge system is Phase 2 and is the most gamified feature. The screen is fully built; live data depends on the backend GET /ipm/v1/badge-progress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the technically minded members of the IT team. Hermes constraints, Android-specific bugs, and the real-data-only policy were major engineering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5 items are backend tasks. The frontend is ready for all of them — it's waiting on these to go live. Priority column highlights 3 critical blockers.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confidence: the frontend is in great shape. The outstanding items are well-understood and documented. Backend resolution will unlock the final pieces.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5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C4D91">
              <a:alpha val="40000"/>
            </a:srgbClr>
          </a:solidFill>
          <a:ln w="12700">
            <a:solidFill>
              <a:srgbClr val="0C4D9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46B0E3">
              <a:alpha val="25000"/>
            </a:srgbClr>
          </a:solidFill>
          <a:ln w="12700">
            <a:solidFill>
              <a:srgbClr val="46B0E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C4D91">
              <a:alpha val="30000"/>
            </a:srgbClr>
          </a:solidFill>
          <a:ln w="12700">
            <a:solidFill>
              <a:srgbClr val="0C4D91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22960"/>
            <a:ext cx="914400" cy="914400"/>
          </a:xfrm>
          <a:prstGeom prst="ellipse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9784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6B0E3"/>
                </a:solidFill>
              </a:rPr>
              <a:t>IT TEAM PROGRESS REPORT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IPM Hub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46B0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2286000" cy="36576"/>
          </a:xfrm>
          <a:prstGeom prst="rect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B5"/>
                </a:solidFill>
              </a:rPr>
              <a:t>React Native 0.74.5  •  TypeScript  •  WordPress / BuddyBoss / LearnDash / WooCommerce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Institute of Project Management  •  June 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B0E3"/>
                </a:solidFill>
              </a:rPr>
              <a:t>20+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Screens Built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60604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0604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B0E3"/>
                </a:solidFill>
              </a:rPr>
              <a:t>73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60604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Real API Tags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488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B0E3"/>
                </a:solidFill>
              </a:rPr>
              <a:t>6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75488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Auth Flows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03720" y="39776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6B0E3"/>
                </a:solidFill>
              </a:rPr>
              <a:t>Phase 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903720" y="4370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Badge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3474720"/>
            <a:ext cx="2743200" cy="2743200"/>
          </a:xfrm>
          <a:prstGeom prst="ellipse">
            <a:avLst/>
          </a:prstGeom>
          <a:solidFill>
            <a:srgbClr val="0C4D91">
              <a:alpha val="40000"/>
            </a:srgbClr>
          </a:solidFill>
          <a:ln w="12700">
            <a:solidFill>
              <a:srgbClr val="0C4D91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1371600" cy="36576"/>
          </a:xfrm>
          <a:prstGeom prst="rect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9842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Cross-platform iOS &amp; Android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9572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Native 0.74.5 + TypeScript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7977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27523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WordPress + BuddyBoss backend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6382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LearnDash LMS integration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54787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WooCommerce store layer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93192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4864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JWT-based authentication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315968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48640" y="4288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REST API endpoints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4114800" y="365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2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IPM Hub?</a:t>
            </a:r>
            <a:endParaRPr lang="en-US" sz="2000" dirty="0"/>
          </a:p>
        </p:txBody>
      </p:sp>
      <p:sp>
        <p:nvSpPr>
          <p:cNvPr id="21" name="Text 12"/>
          <p:cNvSpPr/>
          <p:nvPr/>
        </p:nvSpPr>
        <p:spPr>
          <a:xfrm>
            <a:off x="4114800" y="9144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</a:rPr>
              <a:t>IPM Hub is the official mobile app for the Institute of Project Management community. It brings together social features, learning management, events, mentorship, direct messaging, certifications, and a gamified badge system — all accessible natively on mobile.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4114800" y="214884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0C4D91"/>
          </a:solidFill>
          <a:ln w="12700">
            <a:solidFill>
              <a:srgbClr val="192546">
                <a:alpha val="20000"/>
              </a:srgbClr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4114800" y="22219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4114800" y="25328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Native 0.74.5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6537960" y="214884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1A5276"/>
          </a:solidFill>
          <a:ln w="12700">
            <a:solidFill>
              <a:srgbClr val="192546">
                <a:alpha val="20000"/>
              </a:srgbClr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6537960" y="22219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6537960" y="25328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WordPress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BuddyBoss + LearnDash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4114800" y="347472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1B6CA8"/>
          </a:solidFill>
          <a:ln w="12700">
            <a:solidFill>
              <a:srgbClr val="192546">
                <a:alpha val="20000"/>
              </a:srgbClr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4114800" y="3547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Auth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4114800" y="38587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 + Google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LinkedIn OAuth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537960" y="3474720"/>
            <a:ext cx="2240280" cy="1143000"/>
          </a:xfrm>
          <a:prstGeom prst="roundRect">
            <a:avLst>
              <a:gd name="adj" fmla="val 8000"/>
            </a:avLst>
          </a:prstGeom>
          <a:solidFill>
            <a:srgbClr val="2E8BAF"/>
          </a:solidFill>
          <a:ln w="12700">
            <a:solidFill>
              <a:srgbClr val="192546">
                <a:alpha val="20000"/>
              </a:srgbClr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6537960" y="35478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Ecommerce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6537960" y="38587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WooCommerce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REST APIs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411480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B5"/>
                </a:solidFill>
              </a:rPr>
              <a:t>Production backend: hub.instituteprojectmanagement.com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6B0E3"/>
                </a:solidFill>
              </a:rPr>
              <a:t>SCREENS COMPLETED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 Screens Built &amp; Wired to Live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0896" y="125272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2588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125272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Auth &amp; Onboarding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9184" y="1801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Sign In / Sign 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Verify Email / Welcome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Forgot Password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Profile Setup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14016" y="114300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23744" y="125272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3258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72384" y="125272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Social &amp; Community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542032" y="1801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Activity Feed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Forums (73 tags)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Intros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Mentors Directory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26864" y="114300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36592" y="125272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32588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85232" y="125272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Member Profiles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754880" y="1801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5-Tab Profile 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Edit Profile (6 screens)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Account Settings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839712" y="114300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0" y="125272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3258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125272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Learning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967728" y="180136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Courses (3 tabs)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Course Detail (7 tabs)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Lesson Detail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Certifications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01168" y="301752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0896" y="312724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20040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59536" y="312724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Events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29184" y="36758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Events Screen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Event Detail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Event Thank You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414016" y="301752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523744" y="312724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6896" y="320040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072384" y="312724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Messaging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2542032" y="36758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DM 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DM Conversation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New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Members Browser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626864" y="301752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36592" y="312724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200400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285232" y="312724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Store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754880" y="36758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Courses / Certs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PM Softwares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Filter &amp; Sort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839712" y="3017520"/>
            <a:ext cx="202996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949440" y="3127248"/>
            <a:ext cx="475488" cy="475488"/>
          </a:xfrm>
          <a:prstGeom prst="ellipse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2" y="3200400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498080" y="3127248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Badges (Phase 1)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6967728" y="367588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IPM Member Badge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Activity Progress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Gamified UI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D91"/>
          </a:solidFill>
          <a:ln w="12700">
            <a:solidFill>
              <a:srgbClr val="0C4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657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6B0E3"/>
                </a:solidFill>
              </a:rPr>
              <a:t>AUTHENTICATION &amp; ONBOARDING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1148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Multi-Path Sign-In Experience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1168" y="1051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1051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Splash Screen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499616" y="1325880"/>
            <a:ext cx="164592" cy="0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91056" y="12527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6B0E3"/>
                </a:solidFill>
              </a:rPr>
              <a:t>▶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1664208" y="1051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4208" y="1051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Sign Up / Sign In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62656" y="1325880"/>
            <a:ext cx="164592" cy="0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54096" y="12527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6B0E3"/>
                </a:solidFill>
              </a:rPr>
              <a:t>▶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127248" y="1051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1051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Email Verification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425696" y="1325880"/>
            <a:ext cx="164592" cy="0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7136" y="12527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6B0E3"/>
                </a:solidFill>
              </a:rPr>
              <a:t>▶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590288" y="1051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90288" y="1051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Welcome Screen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888736" y="1325880"/>
            <a:ext cx="164592" cy="0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0176" y="12527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6B0E3"/>
                </a:solidFill>
              </a:rPr>
              <a:t>▶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053328" y="1051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1051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Profile Setup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51776" y="1325880"/>
            <a:ext cx="164592" cy="0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43216" y="12527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6B0E3"/>
                </a:solidFill>
              </a:rPr>
              <a:t>▶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7516368" y="1051560"/>
            <a:ext cx="1298448" cy="548640"/>
          </a:xfrm>
          <a:prstGeom prst="roundRect">
            <a:avLst>
              <a:gd name="adj" fmla="val 10000"/>
            </a:avLst>
          </a:prstGeom>
          <a:solidFill>
            <a:srgbClr val="192546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16368" y="105156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Main App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01168" y="18288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920240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58368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Email &amp; Password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10896" y="230428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Profile Builder WordPress plugin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Custom nonce-based reset flow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HTML form scraping + validation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414016" y="18288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920240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871216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Google Sign-In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2523744" y="230428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@react-native-google-signin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Full UI integration complete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Needs fixation to go live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2523744" y="3246120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523744" y="3246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Needs Fixation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4626864" y="18288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920240"/>
            <a:ext cx="292608" cy="29260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084064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LinkedIn Sign-In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736592" y="230428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WebView OAuth modal built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Client-side complete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Needs fixation to go live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4736592" y="3246120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736592" y="3246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Needs Fixation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6839712" y="1828800"/>
            <a:ext cx="2029968" cy="1737360"/>
          </a:xfrm>
          <a:prstGeom prst="roundRect">
            <a:avLst>
              <a:gd name="adj" fmla="val 4211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920240"/>
            <a:ext cx="292608" cy="29260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296912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First-Login Detection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6949440" y="230428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Server-side via xProfile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Job Title field (1097) empty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= new user → onboarding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27432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C4D91"/>
                </a:solidFill>
              </a:rPr>
              <a:t>KEY TECHNICAL ACHIEVEMENT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274320" y="4005072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Password reset implemented via Profile Builder plugin HTML scraping with nonce extraction — no clean REST endpoint existed. Built custom PHP snippet for token extraction (WPCode). Hermes-safe JWT decoding using pure-JS b64decode() replacing incompatible atob().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657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6B0E3"/>
                </a:solidFill>
              </a:rPr>
              <a:t>COMMUNITY &amp; SOCIAL FEATURES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297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· Forums · Intros · Mentors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1168" y="10058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1143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6B0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201168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 taxonomy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tags mapped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12848" y="1005840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12848" y="102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Industry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12848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B0E3"/>
                </a:solidFill>
              </a:rPr>
              <a:t>18 tags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84448" y="1005840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84448" y="102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Department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84448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B0E3"/>
                </a:solidFill>
              </a:rPr>
              <a:t>13 tags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56048" y="1005840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6048" y="102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956048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B0E3"/>
                </a:solidFill>
              </a:rPr>
              <a:t>6 tags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27648" y="1005840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27648" y="102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Software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27648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B0E3"/>
                </a:solidFill>
              </a:rPr>
              <a:t>12 tags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99248" y="1005840"/>
            <a:ext cx="1234440" cy="640080"/>
          </a:xfrm>
          <a:prstGeom prst="roundRect">
            <a:avLst>
              <a:gd name="adj" fmla="val 10000"/>
            </a:avLst>
          </a:prstGeom>
          <a:solidFill>
            <a:srgbClr val="0C4D91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9248" y="1024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Challenges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99248" y="1298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B0E3"/>
                </a:solidFill>
              </a:rPr>
              <a:t>13 tags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01168" y="1828800"/>
            <a:ext cx="874166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65760" y="19019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Activity Feed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874520" y="1965960"/>
            <a:ext cx="0" cy="384048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93392" y="190195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Real BuddyBoss activity stream. Author enrichment via xProfile (First Name, Last Name, Job Title, Country fields). Country flag rendering with ISO lookup dictionary.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01168" y="2578608"/>
            <a:ext cx="874166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6576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Forums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874520" y="2715768"/>
            <a:ext cx="0" cy="384048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93392" y="26517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73 real WP taxonomy tag IDs fetched live from /wp/v2/topic-tag. 5 filter categories with correct term IDs. No fabricated data — blank UI where no API data exists.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01168" y="3328416"/>
            <a:ext cx="874166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65760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Intros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874520" y="3465576"/>
            <a:ext cx="0" cy="384048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93392" y="34015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Member introduction posts with BuddyBoss integration. Display name resolution via xProfile fields 1 and 2. HTML tag stripping on xProfile field values.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1168" y="4078224"/>
            <a:ext cx="874166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65760" y="415137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Mentors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874520" y="4215384"/>
            <a:ext cx="0" cy="384048"/>
          </a:xfrm>
          <a:prstGeom prst="line">
            <a:avLst/>
          </a:prstGeom>
          <a:noFill/>
          <a:ln w="19050">
            <a:solidFill>
              <a:srgbClr val="46B0E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993392" y="415137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Mentor CPT screen with real data. Expertise/Industry/Experience taxonomy filters. Mentor Application form (9 steps) built with Submit logic. Request a Call wired as coming-soon.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C4D91"/>
          </a:solidFill>
          <a:ln w="12700">
            <a:solidFill>
              <a:srgbClr val="0C4D9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657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6B0E3"/>
                </a:solidFill>
              </a:rPr>
              <a:t>LEARNING  ·  EVENTS  ·  STORE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297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Courses, Certifications, Events &amp; Commerce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1168" y="1005840"/>
            <a:ext cx="2798064" cy="3886200"/>
          </a:xfrm>
          <a:prstGeom prst="roundRect">
            <a:avLst>
              <a:gd name="adj" fmla="val 3268"/>
            </a:avLst>
          </a:prstGeom>
          <a:solidFill>
            <a:srgbClr val="0C4D91"/>
          </a:solidFill>
          <a:ln w="12700">
            <a:solidFill>
              <a:srgbClr val="0C4D91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38328" y="1097280"/>
            <a:ext cx="457200" cy="457200"/>
          </a:xfrm>
          <a:prstGeom prst="ellipse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15214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5760" y="1719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CoursesScreen — 3 tabs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65760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My Courses (progress tracking)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65760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Upcoming Courses (filter pills)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65760" y="2542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Search All Courses + Sort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5760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CourseDetailScreen — 7 tabs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65760" y="3090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8F7"/>
                </a:solidFill>
              </a:rPr>
              <a:t>(Overview, Modules, Certs,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65760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Assessment, Instructors, FAQs)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65760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LessonDetailScreen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6576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Quiz, eBook, Scenario views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65760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CertificationsScreen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65760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My / Overview / IPM tabs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182112" y="1005840"/>
            <a:ext cx="2798064" cy="3886200"/>
          </a:xfrm>
          <a:prstGeom prst="roundRect">
            <a:avLst>
              <a:gd name="adj" fmla="val 3268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319272" y="1097280"/>
            <a:ext cx="457200" cy="457200"/>
          </a:xfrm>
          <a:prstGeom prst="ellipse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152144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67912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3346704" y="1719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EventsScreen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346704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Upcoming + Past recordings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346704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Webinar recordings tab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346704" y="2542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EventDetailScreen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3346704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Speaker bio, About Webinar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3346704" y="3090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Register Now → Thank You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3346704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EventThankYouScreen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346704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Registration state persisted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3346704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via AsyncStorage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3346704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Custom WP endpoints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3346704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4 confirmed REST routes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163056" y="1005840"/>
            <a:ext cx="2798064" cy="3886200"/>
          </a:xfrm>
          <a:prstGeom prst="roundRect">
            <a:avLst>
              <a:gd name="adj" fmla="val 3268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300216" y="1097280"/>
            <a:ext cx="457200" cy="457200"/>
          </a:xfrm>
          <a:prstGeom prst="ellipse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152144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48856" y="10972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6327648" y="1719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StoreScreen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6327648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Courses / Certs / PM Software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327648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Sub-tab filtering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6327648" y="2542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Sort bottom sheet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327648" y="2816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Skeleton loading cards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6327648" y="3090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3 API endpoints wired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6327648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B0E3"/>
                </a:solidFill>
              </a:rPr>
              <a:t>/wp/v2/sfwd-courses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327648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B0E3"/>
                </a:solidFill>
              </a:rPr>
              <a:t>/wp/v2/courses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6327648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B0E3"/>
                </a:solidFill>
              </a:rPr>
              <a:t>/wp/v2/product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6327648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Promise.all parallel fetch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6327648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0E8F7"/>
                </a:solidFill>
              </a:rPr>
              <a:t>Image + title from REST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657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6B0E3"/>
                </a:solidFill>
              </a:rPr>
              <a:t>DIRECT MESSAGING &amp; MEMBER PROFILES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297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Full-Featured Messaging + 5-Tab Profiles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Messaging  (4 Screens)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01168" y="1417320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184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1490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DM List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1901952" y="1554480"/>
            <a:ext cx="0" cy="384048"/>
          </a:xfrm>
          <a:prstGeom prst="line">
            <a:avLst/>
          </a:prstGeom>
          <a:noFill/>
          <a:ln w="12700">
            <a:solidFill>
              <a:srgbClr val="46B0E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11680" y="15087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Thread list with avatars, last message preview, unread indicators, delete mode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01168" y="216712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6829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2240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DM Conversation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1901952" y="2304288"/>
            <a:ext cx="0" cy="384048"/>
          </a:xfrm>
          <a:prstGeom prst="line">
            <a:avLst/>
          </a:prstGeom>
          <a:noFill/>
          <a:ln w="12700">
            <a:solidFill>
              <a:srgbClr val="46B0E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011680" y="22585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Full chat view, date separators, gradient send button, compose toolbar with 6 icons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01168" y="2916936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1810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" y="29900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New Message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1901952" y="3054096"/>
            <a:ext cx="0" cy="384048"/>
          </a:xfrm>
          <a:prstGeom prst="line">
            <a:avLst/>
          </a:prstGeom>
          <a:noFill/>
          <a:ln w="12700">
            <a:solidFill>
              <a:srgbClr val="46B0E3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011680" y="30083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Member search with real BuddyBoss data, compose window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201168" y="3666744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86791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8368" y="37398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D91"/>
                </a:solidFill>
              </a:rPr>
              <a:t>Members Browser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1901952" y="3803904"/>
            <a:ext cx="0" cy="384048"/>
          </a:xfrm>
          <a:prstGeom prst="line">
            <a:avLst/>
          </a:prstGeom>
          <a:noFill/>
          <a:ln w="12700">
            <a:solidFill>
              <a:srgbClr val="46B0E3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011680" y="375818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A3A"/>
                </a:solidFill>
              </a:rPr>
              <a:t>Thread participant list, member lookup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2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Profiles  (5 Tabs + Edit)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663440" y="1417320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63440" y="1417320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4663440" y="14173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B0E3"/>
                </a:solidFill>
              </a:rPr>
              <a:t>Profile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577840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Cover banner, avatar, bio, xProfile fields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1984248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63440" y="1984248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663440" y="19842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B0E3"/>
                </a:solidFill>
              </a:rPr>
              <a:t>Activity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5577840" y="20574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BuddyBoss activity stream per member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663440" y="2551176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663440" y="2551176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663440" y="255117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B0E3"/>
                </a:solidFill>
              </a:rPr>
              <a:t>Forums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577840" y="26243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Posts by this member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663440" y="3118104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663440" y="3118104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4663440" y="311810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B0E3"/>
                </a:solidFill>
              </a:rPr>
              <a:t>Courses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5577840" y="31912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Enrolled LearnDash courses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4663440" y="3685032"/>
            <a:ext cx="4206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4663440" y="3685032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663440" y="368503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6B0E3"/>
                </a:solidFill>
              </a:rPr>
              <a:t>Badges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5577840" y="37581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3A"/>
                </a:solidFill>
              </a:rPr>
              <a:t>Earned IPM badges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4663440" y="4297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2546"/>
                </a:solidFill>
              </a:rPr>
              <a:t>Edit Profile Screens  (6 screens)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4663440" y="4572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4D91"/>
                </a:solidFill>
              </a:rPr>
              <a:t>Name  ·  Bio  ·  Job &amp; Industry  ·  Location  ·  Social Links  ·  Profile Photo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201168" y="443484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320040" y="44805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B0E3"/>
                </a:solidFill>
              </a:rPr>
              <a:t>⚙  Technical: BuddyBoss POST /messages always requires recipients array even for replies. Focus listeners replace navigation params for cross-screen state.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C4D91">
              <a:alpha val="40000"/>
            </a:srgbClr>
          </a:solidFill>
          <a:ln w="12700">
            <a:solidFill>
              <a:srgbClr val="0C4D91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0515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BADGES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2103120"/>
            <a:ext cx="1371600" cy="36576"/>
          </a:xfrm>
          <a:prstGeom prst="rect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B0E3"/>
                </a:solidFill>
              </a:rPr>
              <a:t>Phase 2 — IPM Member Badge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2697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100 points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7 activities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Personalized badge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6B0E3"/>
                </a:solidFill>
              </a:rPr>
              <a:t>POINT BREAKDOWN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4320" y="395020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7"/>
                </a:solidFill>
              </a:rPr>
              <a:t>Introduce Yourself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834640" y="395020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B0E3"/>
                </a:solidFill>
              </a:rPr>
              <a:t>20 pts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74320" y="410565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7"/>
                </a:solidFill>
              </a:rPr>
              <a:t>Complete Profile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34640" y="410565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B0E3"/>
                </a:solidFill>
              </a:rPr>
              <a:t>20 pts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4320" y="426110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7"/>
                </a:solidFill>
              </a:rPr>
              <a:t>First Post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34640" y="4261104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B0E3"/>
                </a:solidFill>
              </a:rPr>
              <a:t>15 pts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4320" y="4416552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7"/>
                </a:solidFill>
              </a:rPr>
              <a:t>First Forum Reply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834640" y="441655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B0E3"/>
                </a:solidFill>
              </a:rPr>
              <a:t>15 pts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74320" y="457200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7"/>
                </a:solidFill>
              </a:rPr>
              <a:t>Attend Webinar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834640" y="4572000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B0E3"/>
                </a:solidFill>
              </a:rPr>
              <a:t>10 pts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4320" y="472744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7"/>
                </a:solidFill>
              </a:rPr>
              <a:t>Enrol in Course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834640" y="472744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B0E3"/>
                </a:solidFill>
              </a:rPr>
              <a:t>10 pts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48828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8F7"/>
                </a:solidFill>
              </a:rPr>
              <a:t>Connect with Member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834640" y="4882896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B0E3"/>
                </a:solidFill>
              </a:rPr>
              <a:t>10 pts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931920" y="228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25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931920" y="777240"/>
            <a:ext cx="4937760" cy="694944"/>
          </a:xfrm>
          <a:prstGeom prst="roundRect">
            <a:avLst>
              <a:gd name="adj" fmla="val 9211"/>
            </a:avLst>
          </a:prstGeom>
          <a:solidFill>
            <a:srgbClr val="EBF4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978408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370832" y="850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BadgesScreen.tsx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370832" y="112471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</a:rPr>
              <a:t>Personalized native badge with member photo, name, and member ID embedded in the badge SVG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931920" y="1581912"/>
            <a:ext cx="4937760" cy="694944"/>
          </a:xfrm>
          <a:prstGeom prst="roundRect">
            <a:avLst>
              <a:gd name="adj" fmla="val 9211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78308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370832" y="1655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Activity Progress UI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370832" y="192938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</a:rPr>
              <a:t>7 activity cards with live completion state, point tallies, and progress bar (0–100pts)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931920" y="2386584"/>
            <a:ext cx="4937760" cy="694944"/>
          </a:xfrm>
          <a:prstGeom prst="roundRect">
            <a:avLst>
              <a:gd name="adj" fmla="val 9211"/>
            </a:avLst>
          </a:prstGeom>
          <a:solidFill>
            <a:srgbClr val="EBF4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2587752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370832" y="24597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Gradient Banner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370832" y="273405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</a:rPr>
              <a:t>LinearGradient as root element (#E257E4 → #005AB4) — fixed Android clipping bug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931920" y="3191256"/>
            <a:ext cx="4937760" cy="694944"/>
          </a:xfrm>
          <a:prstGeom prst="roundRect">
            <a:avLst>
              <a:gd name="adj" fmla="val 9211"/>
            </a:avLst>
          </a:prstGeom>
          <a:solidFill>
            <a:srgbClr val="F4F6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3392424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370832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API Spec Documented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370832" y="35387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</a:rPr>
              <a:t>Full GET /ipm/v1/badge-progress spec written with hook mappings for backend implementation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3931920" y="3995928"/>
            <a:ext cx="4937760" cy="694944"/>
          </a:xfrm>
          <a:prstGeom prst="roundRect">
            <a:avLst>
              <a:gd name="adj" fmla="val 9211"/>
            </a:avLst>
          </a:prstGeom>
          <a:solidFill>
            <a:srgbClr val="EBF4F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648" y="4197096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370832" y="4069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2546"/>
                </a:solidFill>
              </a:rPr>
              <a:t>My Badges Section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4370832" y="43434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3A"/>
                </a:solidFill>
              </a:rPr>
              <a:t>Earned badge gallery UI ready — awaiting backend endpoint to wire live data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25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53312"/>
            <a:ext cx="1828800" cy="36576"/>
          </a:xfrm>
          <a:prstGeom prst="rect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B5"/>
                </a:solidFill>
              </a:rPr>
              <a:t>Engineering decisions, integrations &amp; platform-specific fixes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920240"/>
            <a:ext cx="2798064" cy="1298448"/>
          </a:xfrm>
          <a:prstGeom prst="roundRect">
            <a:avLst>
              <a:gd name="adj" fmla="val 7042"/>
            </a:avLst>
          </a:prstGeom>
          <a:solidFill>
            <a:srgbClr val="0C4D91"/>
          </a:solidFill>
          <a:ln w="12700">
            <a:solidFill>
              <a:srgbClr val="46B0E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20299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0116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B0E3"/>
                </a:solidFill>
              </a:rPr>
              <a:t>Hermes Engine Compatibility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8328" y="246888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2"/>
                </a:solidFill>
              </a:rPr>
              <a:t>atob() incompatible with Hermes. Built custom pure-JS b64decode() across entire codebase for JWT decoding.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82112" y="1920240"/>
            <a:ext cx="2798064" cy="1298448"/>
          </a:xfrm>
          <a:prstGeom prst="roundRect">
            <a:avLst>
              <a:gd name="adj" fmla="val 7042"/>
            </a:avLst>
          </a:prstGeom>
          <a:solidFill>
            <a:srgbClr val="0C4D91"/>
          </a:solidFill>
          <a:ln w="12700">
            <a:solidFill>
              <a:srgbClr val="46B0E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0299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0752" y="20116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B0E3"/>
                </a:solidFill>
              </a:rPr>
              <a:t>Android Rendering Fixes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319272" y="246888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2"/>
                </a:solidFill>
              </a:rPr>
              <a:t>overflow:hidden on card root causes zero-height on Android. gap property replaced with marginBottom. LinearGradient must be root element.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63056" y="1920240"/>
            <a:ext cx="2798064" cy="1298448"/>
          </a:xfrm>
          <a:prstGeom prst="roundRect">
            <a:avLst>
              <a:gd name="adj" fmla="val 7042"/>
            </a:avLst>
          </a:prstGeom>
          <a:solidFill>
            <a:srgbClr val="0C4D91"/>
          </a:solidFill>
          <a:ln w="12700">
            <a:solidFill>
              <a:srgbClr val="46B0E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202996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11696" y="201168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B0E3"/>
                </a:solidFill>
              </a:rPr>
              <a:t>Real Data Only Policy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300216" y="246888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2"/>
                </a:solidFill>
              </a:rPr>
              <a:t>Zero fabricated data. If a field doesn't exist in BuddyBoss/WP, UI shows blank. All 73 forum tags from live /wp/v2/topic-tag endpoint.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01168" y="3383280"/>
            <a:ext cx="2798064" cy="1298448"/>
          </a:xfrm>
          <a:prstGeom prst="roundRect">
            <a:avLst>
              <a:gd name="adj" fmla="val 7042"/>
            </a:avLst>
          </a:prstGeom>
          <a:solidFill>
            <a:srgbClr val="0C4D91"/>
          </a:solidFill>
          <a:ln w="12700">
            <a:solidFill>
              <a:srgbClr val="46B0E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49300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34747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B0E3"/>
                </a:solidFill>
              </a:rPr>
              <a:t>xProfile Field Mapping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338328" y="39319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2"/>
                </a:solidFill>
              </a:rPr>
              <a:t>BuddyBoss returns id:undefined in xProfile. Field lookup by name string, not numeric ID. Confirmed via live Postman sessions.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182112" y="3383280"/>
            <a:ext cx="2798064" cy="1298448"/>
          </a:xfrm>
          <a:prstGeom prst="roundRect">
            <a:avLst>
              <a:gd name="adj" fmla="val 7042"/>
            </a:avLst>
          </a:prstGeom>
          <a:solidFill>
            <a:srgbClr val="0C4D91"/>
          </a:solidFill>
          <a:ln w="12700">
            <a:solidFill>
              <a:srgbClr val="46B0E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49300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30752" y="34747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B0E3"/>
                </a:solidFill>
              </a:rPr>
              <a:t>Release APK Pipeline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319272" y="39319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2"/>
                </a:solidFill>
              </a:rPr>
              <a:t>Full release build pipeline: JS bundle → assembleRelease from android/ subdirectory. Signed with debug keystore for team distribution.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163056" y="3383280"/>
            <a:ext cx="2798064" cy="1298448"/>
          </a:xfrm>
          <a:prstGeom prst="roundRect">
            <a:avLst>
              <a:gd name="adj" fmla="val 7042"/>
            </a:avLst>
          </a:prstGeom>
          <a:solidFill>
            <a:srgbClr val="0C4D91"/>
          </a:solidFill>
          <a:ln w="12700">
            <a:solidFill>
              <a:srgbClr val="46B0E3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493008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11696" y="34747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B0E3"/>
                </a:solidFill>
              </a:rPr>
              <a:t>iOS Build Strategy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300216" y="39319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2"/>
                </a:solidFill>
              </a:rPr>
              <a:t>Windows cannot run Xcode. EAS Build free tier (15 builds/month) and colleague's Mac identified as iOS build paths.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657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6B0E3"/>
                </a:solidFill>
              </a:rPr>
              <a:t>OUTSTANDING ITEMS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297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That Still Need to Be Done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1168" y="1005840"/>
            <a:ext cx="8741664" cy="713232"/>
          </a:xfrm>
          <a:prstGeom prst="roundRect">
            <a:avLst>
              <a:gd name="adj" fmla="val 8974"/>
            </a:avLst>
          </a:prstGeom>
          <a:solidFill>
            <a:srgbClr val="FFF5F5"/>
          </a:solidFill>
          <a:ln w="12700">
            <a:solidFill>
              <a:srgbClr val="EF444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168" y="1005840"/>
            <a:ext cx="475488" cy="713232"/>
          </a:xfrm>
          <a:prstGeom prst="roundRect">
            <a:avLst>
              <a:gd name="adj" fmla="val 1346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1005840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060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2546"/>
                </a:solidFill>
              </a:rPr>
              <a:t>Badge Progress — Live Data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133502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The Badges screen UI is complete. The GET /ipm/v1/badge-progress API needs to be created and connected so activity points and completion states show live.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858000" y="1060704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1060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⚠ Badges show empty state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858000" y="1408176"/>
            <a:ext cx="192024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4081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Priority: High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01168" y="1810512"/>
            <a:ext cx="8741664" cy="713232"/>
          </a:xfrm>
          <a:prstGeom prst="roundRect">
            <a:avLst>
              <a:gd name="adj" fmla="val 8974"/>
            </a:avLst>
          </a:prstGeom>
          <a:solidFill>
            <a:srgbClr val="FFF5F5"/>
          </a:solidFill>
          <a:ln w="12700">
            <a:solidFill>
              <a:srgbClr val="EF444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1168" y="1810512"/>
            <a:ext cx="475488" cy="713232"/>
          </a:xfrm>
          <a:prstGeom prst="roundRect">
            <a:avLst>
              <a:gd name="adj" fmla="val 1346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1168" y="1810512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1865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2546"/>
                </a:solidFill>
              </a:rPr>
              <a:t>Google Sign-In Fixation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21396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Google Sign-In UI is built and integrated. A Web application-type OAuth Client ID needs to be configured in Google Cloud Console to enable the full sign-in flow.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858000" y="1865376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0" y="1865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⚠ Google Sign-In not yet active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858000" y="2212848"/>
            <a:ext cx="192024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22128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Priority: High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1168" y="2615184"/>
            <a:ext cx="8741664" cy="713232"/>
          </a:xfrm>
          <a:prstGeom prst="roundRect">
            <a:avLst>
              <a:gd name="adj" fmla="val 8974"/>
            </a:avLst>
          </a:prstGeom>
          <a:solidFill>
            <a:srgbClr val="FFF5F5"/>
          </a:solidFill>
          <a:ln w="12700">
            <a:solidFill>
              <a:srgbClr val="EF444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01168" y="2615184"/>
            <a:ext cx="475488" cy="713232"/>
          </a:xfrm>
          <a:prstGeom prst="roundRect">
            <a:avLst>
              <a:gd name="adj" fmla="val 1346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01168" y="2615184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724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2546"/>
                </a:solidFill>
              </a:rPr>
              <a:t>LinkedIn Sign-In Fixation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" y="29443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The LinkedIn OAuth modal is built on the app side. A token exchange endpoint (POST /ipm/v1/linkedin-token) needs to be set up to complete the LinkedIn sign-in flow.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858000" y="267004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0" y="2670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⚠ LinkedIn Sign-In not yet active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858000" y="3017520"/>
            <a:ext cx="192024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0" y="301752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Priority: High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01168" y="3419856"/>
            <a:ext cx="8741664" cy="713232"/>
          </a:xfrm>
          <a:prstGeom prst="roundRect">
            <a:avLst>
              <a:gd name="adj" fmla="val 8974"/>
            </a:avLst>
          </a:prstGeom>
          <a:solidFill>
            <a:srgbClr val="FFFBEB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01168" y="3419856"/>
            <a:ext cx="475488" cy="713232"/>
          </a:xfrm>
          <a:prstGeom prst="roundRect">
            <a:avLst>
              <a:gd name="adj" fmla="val 13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1168" y="3419856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7724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2546"/>
                </a:solidFill>
              </a:rPr>
              <a:t>Store — Product Pricing &amp; Descriptions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77240" y="37490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Store titles and images are showing correctly. Full product pricing ($2,395–$2,750) and descriptions need to be exposed via REST so the Store screen can display complete product info.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858000" y="3474720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0" y="3474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! Store missing prices &amp; descriptions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858000" y="3822192"/>
            <a:ext cx="192024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3822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Priority: Medium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01168" y="4224528"/>
            <a:ext cx="8741664" cy="713232"/>
          </a:xfrm>
          <a:prstGeom prst="roundRect">
            <a:avLst>
              <a:gd name="adj" fmla="val 8974"/>
            </a:avLst>
          </a:prstGeom>
          <a:solidFill>
            <a:srgbClr val="FFFBEB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201168" y="4224528"/>
            <a:ext cx="475488" cy="713232"/>
          </a:xfrm>
          <a:prstGeom prst="roundRect">
            <a:avLst>
              <a:gd name="adj" fmla="val 13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01168" y="4224528"/>
            <a:ext cx="475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7724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2546"/>
                </a:solidFill>
              </a:rPr>
              <a:t>Courses — Live LearnDash Data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77240" y="455371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The Courses screen is fully built. LearnDash REST API permissions need to be configured so live course data can replace the current placeholder content.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858000" y="4279392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58000" y="4279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! Courses show placeholder data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6858000" y="4626864"/>
            <a:ext cx="192024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58000" y="46268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Priority: Medium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2546"/>
          </a:solidFill>
          <a:ln w="12700">
            <a:solidFill>
              <a:srgbClr val="19254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657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6B0E3"/>
                </a:solidFill>
              </a:rPr>
              <a:t>PLAN FOR THE COMING WEEKS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60120" y="4297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on the Roadmap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1168" y="1005840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01168" y="100584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10058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32688" y="10241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Fix Google Sign-In &amp; LinkedIn Sign-In flows so both are fully functional in the app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01168" y="1362456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1168" y="136245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168" y="13624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1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32688" y="13807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Wire live badge progress data into Badges screen once the API is ready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01168" y="1719072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1168" y="171907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1168" y="17190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32688" y="17373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Build Forum Topic Detail view — the individual thread/reply screen not yet implemented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01168" y="2075688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01168" y="207568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1168" y="207568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32688" y="209397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Build Notifications screen — in-app notification centre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01168" y="2432304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01168" y="2432304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1168" y="243230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2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32688" y="24505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Connect live LearnDash course data to the Courses screen (permissions to be enabled)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01168" y="2788920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01168" y="278892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1168" y="27889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3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932688" y="28072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Connect real product pricing and descriptions to the Store screen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681728" y="1005840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81728" y="100584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81728" y="10058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3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413248" y="10241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Update profile drawer to reflect live badge points earned by the member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81728" y="1362456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681728" y="136245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81728" y="13624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4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5413248" y="13807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PDU Tracker — new feature for tracking Professional Development Units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681728" y="1719072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81728" y="171907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81728" y="17190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4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413248" y="17373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Checkout &amp; Payment flow using WooCommerce for in-app purchases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681728" y="2075688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681728" y="207568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81728" y="207568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5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413248" y="209397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iOS build preparation — configure EAS Build or coordinate Mac-based Xcode build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681728" y="2432304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681728" y="2432304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81728" y="243230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Week 5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5413248" y="24505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QA pass across all screens on both Android and iOS devices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681728" y="2788920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192546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681728" y="278892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8A9AB5"/>
          </a:solidFill>
          <a:ln w="12700">
            <a:solidFill>
              <a:srgbClr val="8A9AB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81728" y="27889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Ongoing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5413248" y="28072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92546"/>
                </a:solidFill>
              </a:rPr>
              <a:t>General bug fixes, performance tuning, and UX polish based on team feedback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25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C4D91">
              <a:alpha val="40000"/>
            </a:srgbClr>
          </a:solidFill>
          <a:ln w="12700">
            <a:solidFill>
              <a:srgbClr val="0C4D9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0C4D91">
              <a:alpha val="30000"/>
            </a:srgbClr>
          </a:solidFill>
          <a:ln w="12700">
            <a:solidFill>
              <a:srgbClr val="0C4D91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6B0E3"/>
                </a:solidFill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IPM Hub is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Progress-Ready.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286000" cy="36576"/>
          </a:xfrm>
          <a:prstGeom prst="rect">
            <a:avLst/>
          </a:prstGeom>
          <a:solidFill>
            <a:srgbClr val="46B0E3"/>
          </a:solidFill>
          <a:ln w="12700">
            <a:solidFill>
              <a:srgbClr val="46B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6B0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5"/>
                </a:solidFill>
              </a:rPr>
              <a:t>Screens Complete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560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6B0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60320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5"/>
                </a:solidFill>
              </a:rPr>
              <a:t>Feature Modules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6B0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5"/>
                </a:solidFill>
              </a:rPr>
              <a:t>Live API Tags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5603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6B0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66560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B5"/>
                </a:solidFill>
              </a:rPr>
              <a:t>Backend Items Pending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</a:rPr>
              <a:t>The IPM Hub mobile app has been built screen-by-screen against live Figma specifications with real backend data — no placeholder content. All remaining blockers are backend-side and well-documented for resolution.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B5"/>
                </a:solidFill>
              </a:rPr>
              <a:t>Prepared by Marium Aamer  ·  June 2026  ·  hub.instituteprojectmanagement.com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IPM Hub Mobile App — IT Progress Report</dc:title>
  <dc:subject>PptxGenJS Presentation</dc:subject>
  <dc:creator>Marium Aamer</dc:creator>
  <cp:lastModifiedBy>Marium Aamer</cp:lastModifiedBy>
  <cp:revision>1</cp:revision>
  <dcterms:created xsi:type="dcterms:W3CDTF">2026-06-29T08:18:28Z</dcterms:created>
  <dcterms:modified xsi:type="dcterms:W3CDTF">2026-06-29T08:18:28Z</dcterms:modified>
</cp:coreProperties>
</file>